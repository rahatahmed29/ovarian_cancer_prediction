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Slides/notesSlide1.xml" ContentType="application/vnd.openxmlformats-officedocument.presentationml.notesSlide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74" r:id="rId1"/>
  </p:sldMasterIdLst>
  <p:notesMasterIdLst>
    <p:notesMasterId r:id="rId45"/>
  </p:notesMasterIdLst>
  <p:sldIdLst>
    <p:sldId id="297" r:id="rId2"/>
    <p:sldId id="298" r:id="rId3"/>
    <p:sldId id="299" r:id="rId4"/>
    <p:sldId id="301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7" r:id="rId25"/>
    <p:sldId id="314" r:id="rId26"/>
    <p:sldId id="280" r:id="rId27"/>
    <p:sldId id="315" r:id="rId28"/>
    <p:sldId id="282" r:id="rId29"/>
    <p:sldId id="283" r:id="rId30"/>
    <p:sldId id="284" r:id="rId31"/>
    <p:sldId id="285" r:id="rId32"/>
    <p:sldId id="316" r:id="rId33"/>
    <p:sldId id="317" r:id="rId34"/>
    <p:sldId id="287" r:id="rId35"/>
    <p:sldId id="288" r:id="rId36"/>
    <p:sldId id="289" r:id="rId37"/>
    <p:sldId id="290" r:id="rId38"/>
    <p:sldId id="292" r:id="rId39"/>
    <p:sldId id="293" r:id="rId40"/>
    <p:sldId id="312" r:id="rId41"/>
    <p:sldId id="313" r:id="rId42"/>
    <p:sldId id="294" r:id="rId43"/>
    <p:sldId id="295" r:id="rId44"/>
  </p:sldIdLst>
  <p:sldSz cx="18288000" cy="10287000"/>
  <p:notesSz cx="6858000" cy="9144000"/>
  <p:embeddedFontLst>
    <p:embeddedFont>
      <p:font typeface="DengXian" panose="020B0604020202020204" charset="-122"/>
      <p:regular r:id="rId46"/>
      <p:bold r:id="rId47"/>
    </p:embeddedFont>
    <p:embeddedFont>
      <p:font typeface="Trebuchet MS" panose="020B0603020202020204" pitchFamily="34" charset="0"/>
      <p:regular r:id="rId48"/>
      <p:bold r:id="rId49"/>
      <p:italic r:id="rId50"/>
      <p:boldItalic r:id="rId51"/>
    </p:embeddedFont>
    <p:embeddedFont>
      <p:font typeface="Times New Roman Medium" panose="020B0604020202020204" charset="0"/>
      <p:regular r:id="rId52"/>
    </p:embeddedFont>
    <p:embeddedFont>
      <p:font typeface="Wingdings 3" panose="05040102010807070707" pitchFamily="18" charset="2"/>
      <p:regular r:id="rId53"/>
    </p:embeddedFon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Cambria Math" panose="02040503050406030204" pitchFamily="18" charset="0"/>
      <p:regular r:id="rId58"/>
    </p:embeddedFont>
    <p:embeddedFont>
      <p:font typeface="Times New Roman Bold" panose="02020803070505020304" pitchFamily="18" charset="0"/>
      <p:regular r:id="rId59"/>
      <p:bold r:id="rId6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Uzzal Biswas" initials="DUB" lastIdx="33" clrIdx="0">
    <p:extLst>
      <p:ext uri="{19B8F6BF-5375-455C-9EA6-DF929625EA0E}">
        <p15:presenceInfo xmlns:p15="http://schemas.microsoft.com/office/powerpoint/2012/main" userId="a808096f5e6aaa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5" d="100"/>
          <a:sy n="25" d="100"/>
        </p:scale>
        <p:origin x="92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6T22:33:35.660" idx="1">
    <p:pos x="818" y="238"/>
    <p:text>Move the logo to that side for all slides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6T23:01:13.198" idx="11">
    <p:pos x="8763" y="5708"/>
    <p:text>Increase slide number font size and move to bottom left or right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6T23:05:12.252" idx="15">
    <p:pos x="10" y="10"/>
    <p:text>After this side add a new slide for motivation regarding your objectives of this study based on knowledge gap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6T23:09:03.126" idx="16">
    <p:pos x="10738" y="1337"/>
    <p:text>3rd block should be Model Selection</p:text>
    <p:extLst>
      <p:ext uri="{C676402C-5697-4E1C-873F-D02D1690AC5C}">
        <p15:threadingInfo xmlns:p15="http://schemas.microsoft.com/office/powerpoint/2012/main" timeZoneBias="-360"/>
      </p:ext>
    </p:extLst>
  </p:cm>
  <p:cm authorId="1" dt="2025-12-16T23:10:38.438" idx="17">
    <p:pos x="10738" y="1433"/>
    <p:text>Why HP tuning arrow is different? Fix it</p:text>
    <p:extLst>
      <p:ext uri="{C676402C-5697-4E1C-873F-D02D1690AC5C}">
        <p15:threadingInfo xmlns:p15="http://schemas.microsoft.com/office/powerpoint/2012/main" timeZoneBias="-360">
          <p15:parentCm authorId="1" idx="16"/>
        </p15:threadingInfo>
      </p:ext>
    </p:extLst>
  </p:cm>
  <p:cm authorId="1" dt="2025-12-16T23:11:05.556" idx="18">
    <p:pos x="9382" y="5982"/>
    <p:text>This block is not well designed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6T23:13:59.628" idx="21">
    <p:pos x="9667" y="1699"/>
    <p:text>Write in equation format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7T00:55:24.727" idx="22">
    <p:pos x="8419" y="1042"/>
    <p:text>Change the red colour in all the blocks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7T01:00:51.587" idx="23">
    <p:pos x="5325" y="4911"/>
    <p:text>Fix the alignment of all rows and columns to center alignment</p:text>
    <p:extLst>
      <p:ext uri="{C676402C-5697-4E1C-873F-D02D1690AC5C}">
        <p15:threadingInfo xmlns:p15="http://schemas.microsoft.com/office/powerpoint/2012/main" timeZoneBias="-360"/>
      </p:ext>
    </p:extLst>
  </p:cm>
  <p:cm authorId="1" dt="2025-12-17T01:03:17.065" idx="24">
    <p:pos x="9964" y="51"/>
    <p:text>Before this slide you should add a slide, where need to show the performance among different models and show why you selected XGBoost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7T01:06:22.391" idx="25">
    <p:pos x="4042" y="5558"/>
    <p:text>It should be optimized not modified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7T01:10:26.295" idx="26">
    <p:pos x="9944" y="1516"/>
    <p:text>Fix table alignment</p:text>
    <p:extLst>
      <p:ext uri="{C676402C-5697-4E1C-873F-D02D1690AC5C}">
        <p15:threadingInfo xmlns:p15="http://schemas.microsoft.com/office/powerpoint/2012/main" timeZoneBias="-360"/>
      </p:ext>
    </p:extLst>
  </p:cm>
  <p:cm authorId="1" dt="2025-12-17T01:12:50.419" idx="27">
    <p:pos x="9944" y="1612"/>
    <p:text>Why your recall vakue is lower than [13] and [14]? Will you be able to explain that?</p:text>
    <p:extLst>
      <p:ext uri="{C676402C-5697-4E1C-873F-D02D1690AC5C}">
        <p15:threadingInfo xmlns:p15="http://schemas.microsoft.com/office/powerpoint/2012/main" timeZoneBias="-360">
          <p15:parentCm authorId="1" idx="26"/>
        </p15:threadingInfo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7T01:14:15.480" idx="28">
    <p:pos x="9177" y="956"/>
    <p:text>What does it mean?</p:text>
    <p:extLst mod="1">
      <p:ext uri="{C676402C-5697-4E1C-873F-D02D1690AC5C}">
        <p15:threadingInfo xmlns:p15="http://schemas.microsoft.com/office/powerpoint/2012/main" timeZoneBias="-360"/>
      </p:ext>
    </p:extLst>
  </p:cm>
  <p:cm authorId="1" dt="2025-12-17T01:14:57.394" idx="29">
    <p:pos x="7773" y="5163"/>
    <p:text>What does it mean? Mention specifically</p:text>
    <p:extLst>
      <p:ext uri="{C676402C-5697-4E1C-873F-D02D1690AC5C}">
        <p15:threadingInfo xmlns:p15="http://schemas.microsoft.com/office/powerpoint/2012/main" timeZoneBias="-360"/>
      </p:ext>
    </p:extLst>
  </p:cm>
  <p:cm authorId="1" dt="2025-12-17T01:15:37.065" idx="30">
    <p:pos x="7731" y="152"/>
    <p:text>Check the future works in Keshika's slide and rewrite yours one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7T01:17:24.218" idx="31">
    <p:pos x="8862" y="4052"/>
    <p:text>Fix alignment issue</p:text>
    <p:extLst>
      <p:ext uri="{C676402C-5697-4E1C-873F-D02D1690AC5C}">
        <p15:threadingInfo xmlns:p15="http://schemas.microsoft.com/office/powerpoint/2012/main" timeZoneBias="-360"/>
      </p:ext>
    </p:extLst>
  </p:cm>
  <p:cm authorId="1" dt="2025-12-17T01:17:56.955" idx="32">
    <p:pos x="8822" y="2092"/>
    <p:text>Fix title format</p:text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7T01:18:53.153" idx="33">
    <p:pos x="9802" y="3517"/>
    <p:text>Fix external member name</p:text>
    <p:extLst>
      <p:ext uri="{C676402C-5697-4E1C-873F-D02D1690AC5C}">
        <p15:threadingInfo xmlns:p15="http://schemas.microsoft.com/office/powerpoint/2012/main" timeZoneBias="-3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93089-3217-4D84-B691-439B3EAD05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02F5B-9747-4BE2-9884-8C8AC6C5C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17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02F5B-9747-4BE2-9884-8C8AC6C5CE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59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02F5B-9747-4BE2-9884-8C8AC6C5CE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89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02F5B-9747-4BE2-9884-8C8AC6C5CE2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59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AFAA-497D-45D5-B4C8-F14240FB0D66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7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456E4-A6E7-4A25-A12B-776D0031769F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2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B2B5-39E8-4296-92F8-A17DD355CC9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2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D6092-56E7-4873-9665-ABF3B4889E73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9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EFE0-3D48-414C-931E-FABABF46571A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3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8A0D-26A2-4FFA-A5F8-8ED767AD6365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6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53D6-FAF1-46B2-AC75-D16F6D342A29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08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ECF3-D475-40D3-8767-3F6B5522CEEE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7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1EC7-A68D-4CF3-834E-67405FFD9DC6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6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7AC9-8A6F-46A8-A0AE-8919B4CAC33D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24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561F-1ECD-456F-AF56-7A92B744FF0E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649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2A509-18F7-455A-BB8E-A7C85E9C7471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50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44960-6E1E-4EBC-8A99-936569591ECF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0394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5196-2687-4668-8E4F-82717E09A859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57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18A40-6BE9-432C-BA04-DFF7C8C7255A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2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0EEF7-B373-40A3-A1D3-BC700FDF3F89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48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2DF61-A38C-41CD-BAFC-B170EAD7A932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0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  <p:sldLayoutId id="2147484086" r:id="rId12"/>
    <p:sldLayoutId id="2147484087" r:id="rId13"/>
    <p:sldLayoutId id="2147484088" r:id="rId14"/>
    <p:sldLayoutId id="2147484089" r:id="rId15"/>
    <p:sldLayoutId id="2147484090" r:id="rId16"/>
  </p:sldLayoutIdLst>
  <p:hf hdr="0" ftr="0"/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7.pn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8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5.png"/><Relationship Id="rId4" Type="http://schemas.openxmlformats.org/officeDocument/2006/relationships/image" Target="../media/image26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cholarcommons.sc.edu/jscas/vol22/iss2/8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9400" y="228868"/>
            <a:ext cx="13043390" cy="2318434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5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Ovarian Cancer Prediction Using Whale Optimization–based</a:t>
            </a:r>
            <a:r>
              <a:rPr lang="en-US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5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Algrithom</a:t>
            </a:r>
            <a:endParaRPr lang="en-US" sz="5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1676400" y="9062044"/>
            <a:ext cx="1524000" cy="547688"/>
          </a:xfrm>
        </p:spPr>
        <p:txBody>
          <a:bodyPr/>
          <a:lstStyle/>
          <a:p>
            <a:pPr algn="ctr"/>
            <a:fld id="{3B02A129-CBC5-43D2-9258-98D87DE59B9C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6287662" y="9062044"/>
            <a:ext cx="1025009" cy="547688"/>
          </a:xfrm>
        </p:spPr>
        <p:txBody>
          <a:bodyPr/>
          <a:lstStyle/>
          <a:p>
            <a:pPr algn="ctr"/>
            <a:fld id="{60EF144E-7915-47CD-A205-095D48EA896A}" type="slidenum">
              <a:rPr 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</a:t>
            </a:fld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533878" y="5822576"/>
            <a:ext cx="4430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Board Member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Abdullah-Al </a:t>
            </a: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Nahid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2764" y="3748250"/>
            <a:ext cx="541020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Zeehad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Bin Salim Ameer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ID : 210911</a:t>
            </a:r>
          </a:p>
          <a:p>
            <a:endParaRPr lang="en-US" sz="27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33878" y="4411643"/>
            <a:ext cx="3753784" cy="1490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u="sng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Member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Mizanur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7983" y="2913120"/>
            <a:ext cx="279988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u="sng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33878" y="3457536"/>
            <a:ext cx="34421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Uzzal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Biswas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2764" y="4962531"/>
            <a:ext cx="434340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Rahat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Ahmed Khan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ID : 210929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0713" y="7546418"/>
            <a:ext cx="96407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 Engineering Discipline</a:t>
            </a:r>
          </a:p>
          <a:p>
            <a:pPr algn="ctr"/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</a:t>
            </a:r>
          </a:p>
          <a:p>
            <a:pPr algn="ctr"/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Khulna, Bangladesh </a:t>
            </a:r>
          </a:p>
          <a:p>
            <a:pPr algn="ctr"/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8904" y="2785422"/>
            <a:ext cx="3124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u="sng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</a:p>
        </p:txBody>
      </p:sp>
      <p:sp>
        <p:nvSpPr>
          <p:cNvPr id="23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2648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42530" y="9335888"/>
            <a:ext cx="1653070" cy="547688"/>
          </a:xfrm>
        </p:spPr>
        <p:txBody>
          <a:bodyPr/>
          <a:lstStyle/>
          <a:p>
            <a:pPr algn="ctr"/>
            <a:fld id="{87AF7B27-2050-4DA6-B9E5-3FB5611F6085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549737" y="9384274"/>
            <a:ext cx="1025009" cy="547688"/>
          </a:xfrm>
        </p:spPr>
        <p:txBody>
          <a:bodyPr/>
          <a:lstStyle/>
          <a:p>
            <a:pPr algn="ctr"/>
            <a:fld id="{60EF144E-7915-47CD-A205-095D48EA896A}" type="slidenum">
              <a:rPr lang="en-US" sz="2000" smtClean="0">
                <a:solidFill>
                  <a:schemeClr val="tx1"/>
                </a:solidFill>
                <a:cs typeface="Times New Roman" panose="02020603050405020304" pitchFamily="18" charset="0"/>
              </a:rPr>
              <a:pPr algn="ctr"/>
              <a:t>2</a:t>
            </a:fld>
            <a:endParaRPr lang="en-US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39304" y="949571"/>
            <a:ext cx="4523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6086" y="2765684"/>
            <a:ext cx="3141203" cy="28161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2187685" y="4428039"/>
            <a:ext cx="2483345" cy="131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27492" y="2765683"/>
            <a:ext cx="3268016" cy="304698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74079" y="2765684"/>
            <a:ext cx="2914649" cy="304698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&amp; Method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8290085" y="4425836"/>
            <a:ext cx="2627531" cy="153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252939" y="8315355"/>
            <a:ext cx="2483345" cy="131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4243538" y="4425836"/>
            <a:ext cx="2421513" cy="153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1500496" y="8302167"/>
            <a:ext cx="2418350" cy="131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24007" y="6611130"/>
            <a:ext cx="2812274" cy="304698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995508" y="6662498"/>
            <a:ext cx="3141203" cy="28161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5252936" y="7896744"/>
            <a:ext cx="2483345" cy="131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11500496" y="8042291"/>
            <a:ext cx="22814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98789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1159364"/>
            <a:ext cx="11125200" cy="146913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Ovarian Cancer (OC)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692322"/>
            <a:ext cx="10668000" cy="267037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47800" y="9080162"/>
            <a:ext cx="1752600" cy="511452"/>
          </a:xfrm>
        </p:spPr>
        <p:txBody>
          <a:bodyPr/>
          <a:lstStyle/>
          <a:p>
            <a:pPr algn="ctr"/>
            <a:fld id="{5678B959-6EEE-4E18-8951-71E5949DED29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306800" y="9038145"/>
            <a:ext cx="906205" cy="547688"/>
          </a:xfrm>
        </p:spPr>
        <p:txBody>
          <a:bodyPr/>
          <a:lstStyle/>
          <a:p>
            <a:pPr algn="ctr"/>
            <a:fld id="{60EF144E-7915-47CD-A205-095D48EA896A}" type="slidenum">
              <a:rPr lang="en-US" sz="2000" smtClean="0">
                <a:solidFill>
                  <a:schemeClr val="tx1"/>
                </a:solidFill>
                <a:cs typeface="Times New Roman" panose="02020603050405020304" pitchFamily="18" charset="0"/>
              </a:rPr>
              <a:pPr algn="ctr"/>
              <a:t>3</a:t>
            </a:fld>
            <a:endParaRPr lang="en-US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88087" y="4058587"/>
            <a:ext cx="3492860" cy="216982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Ovarian cancer, a gynecological malignancy that occurs in the ovary of women [1].</a:t>
            </a:r>
          </a:p>
        </p:txBody>
      </p:sp>
      <p:sp>
        <p:nvSpPr>
          <p:cNvPr id="3" name="Rectangle 2"/>
          <p:cNvSpPr/>
          <p:nvPr/>
        </p:nvSpPr>
        <p:spPr>
          <a:xfrm>
            <a:off x="4191000" y="7450762"/>
            <a:ext cx="83045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1: Normal ovary, Ovarian Cyst, Polycystic Ovary</a:t>
            </a:r>
          </a:p>
        </p:txBody>
      </p:sp>
      <p:sp>
        <p:nvSpPr>
          <p:cNvPr id="9" name="Freeform 6"/>
          <p:cNvSpPr/>
          <p:nvPr/>
        </p:nvSpPr>
        <p:spPr>
          <a:xfrm>
            <a:off x="304800" y="378510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94140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52600" y="9062044"/>
            <a:ext cx="1676400" cy="547688"/>
          </a:xfrm>
        </p:spPr>
        <p:txBody>
          <a:bodyPr/>
          <a:lstStyle/>
          <a:p>
            <a:pPr algn="ctr"/>
            <a:fld id="{908C1674-2716-4AB3-94CB-0976EDCEA1AC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021455" y="9081688"/>
            <a:ext cx="1025009" cy="547688"/>
          </a:xfrm>
        </p:spPr>
        <p:txBody>
          <a:bodyPr/>
          <a:lstStyle/>
          <a:p>
            <a:pPr algn="ctr"/>
            <a:fld id="{60EF144E-7915-47CD-A205-095D48EA896A}" type="slidenum">
              <a:rPr 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</a:t>
            </a:fld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7368" y="3862248"/>
            <a:ext cx="5075270" cy="1107996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5737" y="2221990"/>
            <a:ext cx="695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amount of  mortality rate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9336106" y="2279309"/>
            <a:ext cx="540728" cy="52745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Flowchart: Connector 11"/>
          <p:cNvSpPr/>
          <p:nvPr/>
        </p:nvSpPr>
        <p:spPr>
          <a:xfrm>
            <a:off x="9350620" y="3334792"/>
            <a:ext cx="540728" cy="52745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5737" y="3264595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and physical damage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9350620" y="4416246"/>
            <a:ext cx="540728" cy="44225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5737" y="4322834"/>
            <a:ext cx="7297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challenges during the traditional tests. </a:t>
            </a:r>
          </a:p>
        </p:txBody>
      </p:sp>
      <p:sp>
        <p:nvSpPr>
          <p:cNvPr id="16" name="Flowchart: Connector 15"/>
          <p:cNvSpPr/>
          <p:nvPr/>
        </p:nvSpPr>
        <p:spPr>
          <a:xfrm>
            <a:off x="9350620" y="5412495"/>
            <a:ext cx="540728" cy="52745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38935" y="5436740"/>
            <a:ext cx="6319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expenditure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8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1035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5445" y="464317"/>
            <a:ext cx="5221167" cy="1165377"/>
          </a:xfrm>
          <a:solidFill>
            <a:schemeClr val="tx2"/>
          </a:solidFill>
        </p:spPr>
        <p:txBody>
          <a:bodyPr>
            <a:noAutofit/>
          </a:bodyPr>
          <a:lstStyle/>
          <a:p>
            <a:pPr algn="ctr"/>
            <a:r>
              <a:rPr lang="en-US" sz="6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0" y="9278257"/>
            <a:ext cx="1828800" cy="547688"/>
          </a:xfrm>
        </p:spPr>
        <p:txBody>
          <a:bodyPr/>
          <a:lstStyle/>
          <a:p>
            <a:pPr algn="ctr"/>
            <a:fld id="{0AA33594-F2E7-48F7-B516-0442416AF093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230600" y="9278257"/>
            <a:ext cx="1025009" cy="547688"/>
          </a:xfrm>
        </p:spPr>
        <p:txBody>
          <a:bodyPr/>
          <a:lstStyle/>
          <a:p>
            <a:pPr algn="ctr"/>
            <a:fld id="{60EF144E-7915-47CD-A205-095D48EA896A}" type="slidenum">
              <a:rPr 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5</a:t>
            </a:fld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84899" y="2435939"/>
            <a:ext cx="7345974" cy="83087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Rising cases of ovarian Cancer </a:t>
            </a:r>
            <a:endParaRPr lang="en-US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9630962" y="3315438"/>
            <a:ext cx="791307" cy="94956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9" name="Rectangle 8"/>
          <p:cNvSpPr/>
          <p:nvPr/>
        </p:nvSpPr>
        <p:spPr>
          <a:xfrm>
            <a:off x="6203042" y="4240379"/>
            <a:ext cx="7345974" cy="83087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Silent and late diagnosis of ovarian cancer </a:t>
            </a:r>
            <a:endParaRPr lang="en-US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03042" y="6211897"/>
            <a:ext cx="7345974" cy="83087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existing models </a:t>
            </a:r>
            <a:endParaRPr lang="en-US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9630962" y="5221654"/>
            <a:ext cx="791307" cy="94956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5" name="Rectangle 14"/>
          <p:cNvSpPr/>
          <p:nvPr/>
        </p:nvSpPr>
        <p:spPr>
          <a:xfrm>
            <a:off x="6232071" y="8122144"/>
            <a:ext cx="7345974" cy="83087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Ability </a:t>
            </a:r>
            <a:r>
              <a:rPr 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help the clinician with decision 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upport </a:t>
            </a:r>
            <a:endParaRPr lang="en-US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9630962" y="7173036"/>
            <a:ext cx="791307" cy="949569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2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85363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5400" y="971816"/>
            <a:ext cx="6604488" cy="976642"/>
          </a:xfrm>
          <a:solidFill>
            <a:schemeClr val="tx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7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828800" y="9062044"/>
            <a:ext cx="1573822" cy="547688"/>
          </a:xfrm>
        </p:spPr>
        <p:txBody>
          <a:bodyPr/>
          <a:lstStyle/>
          <a:p>
            <a:pPr algn="ctr"/>
            <a:fld id="{E0B0E0DA-5E85-4523-8CEE-B134175771E2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987472" y="9052659"/>
            <a:ext cx="1592005" cy="547688"/>
          </a:xfrm>
        </p:spPr>
        <p:txBody>
          <a:bodyPr/>
          <a:lstStyle/>
          <a:p>
            <a:pPr algn="ctr"/>
            <a:fld id="{60EF144E-7915-47CD-A205-095D48EA896A}" type="slidenum">
              <a:rPr 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6</a:t>
            </a:fld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01613" y="3095995"/>
            <a:ext cx="13160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investigation and model selection</a:t>
            </a:r>
            <a:r>
              <a:rPr lang="en-US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3402623" y="3086183"/>
            <a:ext cx="540728" cy="52745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1613" y="4175691"/>
            <a:ext cx="13160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3402623" y="4202234"/>
            <a:ext cx="540728" cy="52745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402622" y="5160919"/>
            <a:ext cx="540728" cy="52745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Flowchart: Connector 10"/>
          <p:cNvSpPr/>
          <p:nvPr/>
        </p:nvSpPr>
        <p:spPr>
          <a:xfrm>
            <a:off x="3402622" y="6308672"/>
            <a:ext cx="540728" cy="52745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" name="Flowchart: Connector 11"/>
          <p:cNvSpPr/>
          <p:nvPr/>
        </p:nvSpPr>
        <p:spPr>
          <a:xfrm>
            <a:off x="3402622" y="7462408"/>
            <a:ext cx="540728" cy="52745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1613" y="5134376"/>
            <a:ext cx="13160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optimization using whale optimization algorithm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1612" y="6308672"/>
            <a:ext cx="13160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and analyze the performance of the optimized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1613" y="7423994"/>
            <a:ext cx="13191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between proposed and related works.</a:t>
            </a:r>
          </a:p>
        </p:txBody>
      </p:sp>
      <p:sp>
        <p:nvSpPr>
          <p:cNvPr id="16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8682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7400" y="9062044"/>
            <a:ext cx="1676400" cy="547688"/>
          </a:xfrm>
        </p:spPr>
        <p:txBody>
          <a:bodyPr/>
          <a:lstStyle/>
          <a:p>
            <a:fld id="{83DED7CF-0B21-4802-824D-271E6E0B076F}" type="datetime1">
              <a:rPr lang="en-US" sz="2000" smtClean="0">
                <a:solidFill>
                  <a:schemeClr val="tx1"/>
                </a:solidFill>
              </a:rPr>
              <a:t>12/17/2025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557385" y="9062044"/>
            <a:ext cx="1025009" cy="547688"/>
          </a:xfrm>
        </p:spPr>
        <p:txBody>
          <a:bodyPr/>
          <a:lstStyle/>
          <a:p>
            <a:pPr algn="ctr"/>
            <a:fld id="{60EF144E-7915-47CD-A205-095D48EA896A}" type="slidenum">
              <a:rPr lang="en-US" sz="2000" smtClean="0">
                <a:solidFill>
                  <a:schemeClr val="tx1"/>
                </a:solidFill>
                <a:cs typeface="Times New Roman" panose="02020603050405020304" pitchFamily="18" charset="0"/>
              </a:rPr>
              <a:pPr algn="ctr"/>
              <a:t>7</a:t>
            </a:fld>
            <a:endParaRPr lang="en-US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20,100+ Literature Review Stock Photos, Pictures &amp; Royalty-Free Images - 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0555" y="3465451"/>
            <a:ext cx="4148316" cy="278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846385" y="4281308"/>
            <a:ext cx="10036418" cy="11079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6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09762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17029" y="9062044"/>
            <a:ext cx="1676400" cy="547688"/>
          </a:xfrm>
        </p:spPr>
        <p:txBody>
          <a:bodyPr/>
          <a:lstStyle/>
          <a:p>
            <a:pPr algn="ctr"/>
            <a:fld id="{79A6E266-B454-4285-ABEF-5FFA9966C085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579742" y="9062044"/>
            <a:ext cx="1025009" cy="547688"/>
          </a:xfrm>
        </p:spPr>
        <p:txBody>
          <a:bodyPr/>
          <a:lstStyle/>
          <a:p>
            <a:pPr algn="ctr"/>
            <a:fld id="{60EF144E-7915-47CD-A205-095D48EA896A}" type="slidenum">
              <a:rPr lang="en-US" sz="2000" smtClean="0">
                <a:solidFill>
                  <a:schemeClr val="tx1"/>
                </a:solidFill>
              </a:rPr>
              <a:pPr algn="ctr"/>
              <a:t>8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27126" y="1226525"/>
            <a:ext cx="7345974" cy="83087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 </a:t>
            </a:r>
            <a:endParaRPr lang="en-US" sz="27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416562" y="2057398"/>
            <a:ext cx="0" cy="134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4325817" y="3363060"/>
            <a:ext cx="104848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325816" y="3363061"/>
            <a:ext cx="4" cy="14155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9416561" y="3363063"/>
            <a:ext cx="1" cy="1485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4810643" y="3363061"/>
            <a:ext cx="0" cy="1485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255229" y="4778618"/>
            <a:ext cx="4286250" cy="905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Systematic Literature Review  </a:t>
            </a:r>
            <a:endParaRPr lang="en-US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74548" y="4743451"/>
            <a:ext cx="4547822" cy="9407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Semi-systematic Literature Review </a:t>
            </a:r>
            <a:endParaRPr lang="en-US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2755438" y="4778618"/>
            <a:ext cx="4336809" cy="9341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Bibliographic Literature Review  </a:t>
            </a:r>
            <a:endParaRPr lang="en-US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04771" y="7855206"/>
            <a:ext cx="13287375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main types of literature review process. In our study we have used Systematic literature review</a:t>
            </a:r>
          </a:p>
        </p:txBody>
      </p:sp>
      <p:sp>
        <p:nvSpPr>
          <p:cNvPr id="2" name="Rectangle 1"/>
          <p:cNvSpPr/>
          <p:nvPr/>
        </p:nvSpPr>
        <p:spPr>
          <a:xfrm>
            <a:off x="7015257" y="6846770"/>
            <a:ext cx="49071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types</a:t>
            </a:r>
          </a:p>
        </p:txBody>
      </p:sp>
      <p:sp>
        <p:nvSpPr>
          <p:cNvPr id="15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05338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05000" y="9355858"/>
            <a:ext cx="1600200" cy="547688"/>
          </a:xfrm>
        </p:spPr>
        <p:txBody>
          <a:bodyPr/>
          <a:lstStyle/>
          <a:p>
            <a:pPr algn="ctr"/>
            <a:fld id="{6557E18A-31A7-47DC-847D-043AFAC9EA45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306800" y="9262142"/>
            <a:ext cx="1025009" cy="580032"/>
          </a:xfrm>
        </p:spPr>
        <p:txBody>
          <a:bodyPr/>
          <a:lstStyle/>
          <a:p>
            <a:pPr algn="ctr"/>
            <a:fld id="{60EF144E-7915-47CD-A205-095D48EA896A}" type="slidenum">
              <a:rPr 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</a:t>
            </a:fld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45676" y="515188"/>
            <a:ext cx="9627575" cy="1754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Systematic </a:t>
            </a:r>
          </a:p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7" name="Oval 6"/>
          <p:cNvSpPr/>
          <p:nvPr/>
        </p:nvSpPr>
        <p:spPr>
          <a:xfrm>
            <a:off x="7848600" y="2589393"/>
            <a:ext cx="3581400" cy="154305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9330437" y="4230655"/>
            <a:ext cx="620648" cy="67069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9" name="Oval 8"/>
          <p:cNvSpPr/>
          <p:nvPr/>
        </p:nvSpPr>
        <p:spPr>
          <a:xfrm>
            <a:off x="7952438" y="4923832"/>
            <a:ext cx="3477562" cy="1413651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HyperparameterOptimization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9330437" y="6597139"/>
            <a:ext cx="620648" cy="67069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Oval 10"/>
          <p:cNvSpPr/>
          <p:nvPr/>
        </p:nvSpPr>
        <p:spPr>
          <a:xfrm>
            <a:off x="7952438" y="7278227"/>
            <a:ext cx="3376643" cy="15430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5568643" y="9346168"/>
            <a:ext cx="76177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Overview of Systematic Literature review</a:t>
            </a:r>
          </a:p>
        </p:txBody>
      </p:sp>
      <p:sp>
        <p:nvSpPr>
          <p:cNvPr id="12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028842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9402735"/>
            <a:ext cx="1752600" cy="547688"/>
          </a:xfrm>
        </p:spPr>
        <p:txBody>
          <a:bodyPr/>
          <a:lstStyle/>
          <a:p>
            <a:fld id="{A8CCF5DC-54DD-45C5-BC2E-C0E9F2AE2F5C}" type="datetime1">
              <a:rPr lang="en-US" sz="2000" smtClean="0">
                <a:solidFill>
                  <a:schemeClr val="tx1"/>
                </a:solidFill>
              </a:rPr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567880" y="9402735"/>
            <a:ext cx="1025009" cy="547688"/>
          </a:xfrm>
        </p:spPr>
        <p:txBody>
          <a:bodyPr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100833"/>
              </p:ext>
            </p:extLst>
          </p:nvPr>
        </p:nvGraphicFramePr>
        <p:xfrm>
          <a:off x="671286" y="1990614"/>
          <a:ext cx="17068800" cy="707143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413760">
                  <a:extLst>
                    <a:ext uri="{9D8B030D-6E8A-4147-A177-3AD203B41FA5}">
                      <a16:colId xmlns:a16="http://schemas.microsoft.com/office/drawing/2014/main" val="1658930785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1292997454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315043015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41463112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3338220667"/>
                    </a:ext>
                  </a:extLst>
                </a:gridCol>
              </a:tblGrid>
              <a:tr h="260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features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506643"/>
                  </a:ext>
                </a:extLst>
              </a:tr>
              <a:tr h="3276635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T.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Oznacar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T.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Guiler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[2]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Sample:349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49</a:t>
                      </a:r>
                    </a:p>
                    <a:p>
                      <a:pPr algn="ctr"/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Benign: 178</a:t>
                      </a:r>
                    </a:p>
                    <a:p>
                      <a:pPr algn="ctr"/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Malignant:171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feature selection based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classifier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AFP, age, ALB, ALP, AST, CA125, CA19-9, CA72-4, CEA, GLO, HE4, IBIL, LYM#, LYM%, MCH, NEU, Na, PCT, PLT, TBIL and TP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89.52%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: 90.73%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Recall: 89.52%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F1-score: 90.73%</a:t>
                      </a:r>
                    </a:p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402170"/>
                  </a:ext>
                </a:extLst>
              </a:tr>
              <a:tr h="3276635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B.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Wickramasinghe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G.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Regisford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[3]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Sample:335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49</a:t>
                      </a:r>
                    </a:p>
                    <a:p>
                      <a:pPr algn="ctr"/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Positive: 171</a:t>
                      </a:r>
                    </a:p>
                    <a:p>
                      <a:pPr algn="ctr"/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Negative:164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Chi-square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 with Logistic regression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AFP, AG, ALB, ALP, AST, CA125, CA19-9, CA72-4, CEA, GGT, HE4, IBIL, LYM%, LYM#, UA, HGB,  MNP, NEU,  PLT, TBIL,  and PDW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Accuracy:89.52%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Recall: 99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62355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71805" y="1392637"/>
            <a:ext cx="8839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Summary table based on feature selection</a:t>
            </a:r>
          </a:p>
        </p:txBody>
      </p:sp>
      <p:sp>
        <p:nvSpPr>
          <p:cNvPr id="10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FE731-8AEA-49D1-92C8-569C6C4D1655}"/>
              </a:ext>
            </a:extLst>
          </p:cNvPr>
          <p:cNvSpPr txBox="1"/>
          <p:nvPr/>
        </p:nvSpPr>
        <p:spPr>
          <a:xfrm>
            <a:off x="685800" y="394349"/>
            <a:ext cx="1066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Literature Review: 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747339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0" y="9062044"/>
            <a:ext cx="1600200" cy="547688"/>
          </a:xfrm>
        </p:spPr>
        <p:txBody>
          <a:bodyPr/>
          <a:lstStyle/>
          <a:p>
            <a:pPr algn="ctr"/>
            <a:fld id="{C091A03E-A4D4-4E5C-A356-7434F1F1FB65}" type="datetime1">
              <a:rPr lang="en-US" sz="2000" smtClean="0">
                <a:solidFill>
                  <a:schemeClr val="tx2"/>
                </a:solidFill>
              </a:rPr>
              <a:pPr algn="ctr"/>
              <a:t>12/17/2025</a:t>
            </a:fld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435289" y="9062044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2"/>
                </a:solidFill>
              </a:rPr>
              <a:pPr algn="ctr"/>
              <a:t>11</a:t>
            </a:fld>
            <a:endParaRPr lang="en-US" sz="20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728376"/>
                  </p:ext>
                </p:extLst>
              </p:nvPr>
            </p:nvGraphicFramePr>
            <p:xfrm>
              <a:off x="877727" y="2336808"/>
              <a:ext cx="16611600" cy="601980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987175">
                      <a:extLst>
                        <a:ext uri="{9D8B030D-6E8A-4147-A177-3AD203B41FA5}">
                          <a16:colId xmlns:a16="http://schemas.microsoft.com/office/drawing/2014/main" val="1658930785"/>
                        </a:ext>
                      </a:extLst>
                    </a:gridCol>
                    <a:gridCol w="2768600">
                      <a:extLst>
                        <a:ext uri="{9D8B030D-6E8A-4147-A177-3AD203B41FA5}">
                          <a16:colId xmlns:a16="http://schemas.microsoft.com/office/drawing/2014/main" val="1292997454"/>
                        </a:ext>
                      </a:extLst>
                    </a:gridCol>
                    <a:gridCol w="3553142">
                      <a:extLst>
                        <a:ext uri="{9D8B030D-6E8A-4147-A177-3AD203B41FA5}">
                          <a16:colId xmlns:a16="http://schemas.microsoft.com/office/drawing/2014/main" val="315043015"/>
                        </a:ext>
                      </a:extLst>
                    </a:gridCol>
                    <a:gridCol w="4217673">
                      <a:extLst>
                        <a:ext uri="{9D8B030D-6E8A-4147-A177-3AD203B41FA5}">
                          <a16:colId xmlns:a16="http://schemas.microsoft.com/office/drawing/2014/main" val="2432003023"/>
                        </a:ext>
                      </a:extLst>
                    </a:gridCol>
                    <a:gridCol w="3085010">
                      <a:extLst>
                        <a:ext uri="{9D8B030D-6E8A-4147-A177-3AD203B41FA5}">
                          <a16:colId xmlns:a16="http://schemas.microsoft.com/office/drawing/2014/main" val="3338220667"/>
                        </a:ext>
                      </a:extLst>
                    </a:gridCol>
                  </a:tblGrid>
                  <a:tr h="98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Author Name</a:t>
                          </a:r>
                          <a:r>
                            <a:rPr lang="en-US" sz="28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Method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Selected </a:t>
                          </a:r>
                          <a:r>
                            <a:rPr lang="en-US" sz="2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hyperparameters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Result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1506643"/>
                      </a:ext>
                    </a:extLst>
                  </a:tr>
                  <a:tr h="23332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H. </a:t>
                          </a:r>
                          <a:r>
                            <a:rPr lang="en-US" sz="280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Dhingra</a:t>
                          </a:r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and R. Shetty [4]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Sample:349</a:t>
                          </a:r>
                        </a:p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Feature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 49</a:t>
                          </a:r>
                        </a:p>
                        <a:p>
                          <a:pPr algn="ctr"/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Benign: 178</a:t>
                          </a:r>
                        </a:p>
                        <a:p>
                          <a:pPr algn="ctr"/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Malignant:171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optimization based FNN network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Optimizer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Adam</m:t>
                              </m:r>
                            </m:oMath>
                          </a14:m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,</a:t>
                          </a:r>
                        </a:p>
                        <a:p>
                          <a:pPr algn="ctr"/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Epochs</a:t>
                          </a:r>
                          <a14:m>
                            <m:oMath xmlns:m="http://schemas.openxmlformats.org/officeDocument/2006/math">
                              <m:r>
                                <a:rPr lang="en-US" sz="2800" i="1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fixed</m:t>
                              </m:r>
                              <m: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standardized</m:t>
                              </m:r>
                              <m: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value</m:t>
                              </m:r>
                              <m: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 </m:t>
                              </m:r>
                            </m:oMath>
                          </a14:m>
                          <a:endParaRPr lang="en-US" sz="28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Batch size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fixed</m:t>
                              </m:r>
                              <m: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standardized</m:t>
                              </m:r>
                              <m: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kern="12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value</m:t>
                              </m:r>
                            </m:oMath>
                          </a14:m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. 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Accuracy: 85.71%</a:t>
                          </a:r>
                        </a:p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2402170"/>
                      </a:ext>
                    </a:extLst>
                  </a:tr>
                  <a:tr h="26967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A. S.  Azar et al. [5]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Sample:42827</a:t>
                          </a:r>
                        </a:p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Feature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 17</a:t>
                          </a:r>
                        </a:p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Grid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search based </a:t>
                          </a:r>
                          <a:r>
                            <a:rPr lang="en-US" sz="2800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hyperparameter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tuning with random forest classifier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criterion: </a:t>
                          </a:r>
                          <a:r>
                            <a:rPr lang="en-US" sz="280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gini</a:t>
                          </a:r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, </a:t>
                          </a:r>
                        </a:p>
                        <a:p>
                          <a:pPr algn="ctr"/>
                          <a:r>
                            <a:rPr lang="en-US" sz="280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max_depth</a:t>
                          </a:r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: none and </a:t>
                          </a:r>
                          <a:r>
                            <a:rPr lang="en-US" sz="280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n_estimators</a:t>
                          </a:r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: 100 </a:t>
                          </a: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Accuracy:88.7%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F1-score: 71.7%</a:t>
                          </a:r>
                        </a:p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86235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728376"/>
                  </p:ext>
                </p:extLst>
              </p:nvPr>
            </p:nvGraphicFramePr>
            <p:xfrm>
              <a:off x="877727" y="2336808"/>
              <a:ext cx="16611600" cy="601980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2987175">
                      <a:extLst>
                        <a:ext uri="{9D8B030D-6E8A-4147-A177-3AD203B41FA5}">
                          <a16:colId xmlns:a16="http://schemas.microsoft.com/office/drawing/2014/main" val="1658930785"/>
                        </a:ext>
                      </a:extLst>
                    </a:gridCol>
                    <a:gridCol w="2768600">
                      <a:extLst>
                        <a:ext uri="{9D8B030D-6E8A-4147-A177-3AD203B41FA5}">
                          <a16:colId xmlns:a16="http://schemas.microsoft.com/office/drawing/2014/main" val="1292997454"/>
                        </a:ext>
                      </a:extLst>
                    </a:gridCol>
                    <a:gridCol w="3553142">
                      <a:extLst>
                        <a:ext uri="{9D8B030D-6E8A-4147-A177-3AD203B41FA5}">
                          <a16:colId xmlns:a16="http://schemas.microsoft.com/office/drawing/2014/main" val="315043015"/>
                        </a:ext>
                      </a:extLst>
                    </a:gridCol>
                    <a:gridCol w="4217673">
                      <a:extLst>
                        <a:ext uri="{9D8B030D-6E8A-4147-A177-3AD203B41FA5}">
                          <a16:colId xmlns:a16="http://schemas.microsoft.com/office/drawing/2014/main" val="2432003023"/>
                        </a:ext>
                      </a:extLst>
                    </a:gridCol>
                    <a:gridCol w="3085010">
                      <a:extLst>
                        <a:ext uri="{9D8B030D-6E8A-4147-A177-3AD203B41FA5}">
                          <a16:colId xmlns:a16="http://schemas.microsoft.com/office/drawing/2014/main" val="3338220667"/>
                        </a:ext>
                      </a:extLst>
                    </a:gridCol>
                  </a:tblGrid>
                  <a:tr h="989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Author Name</a:t>
                          </a:r>
                          <a:r>
                            <a:rPr lang="en-US" sz="28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Method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Selected </a:t>
                          </a:r>
                          <a:r>
                            <a:rPr lang="en-US" sz="2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hyperparameters</a:t>
                          </a:r>
                          <a:endPara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Result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1506643"/>
                      </a:ext>
                    </a:extLst>
                  </a:tr>
                  <a:tr h="23332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H. </a:t>
                          </a:r>
                          <a:r>
                            <a:rPr lang="en-US" sz="280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Dhingra</a:t>
                          </a:r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and R. Shetty [4]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Sample:349</a:t>
                          </a:r>
                        </a:p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Feature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 49</a:t>
                          </a:r>
                        </a:p>
                        <a:p>
                          <a:pPr algn="ctr"/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Benign: 178</a:t>
                          </a:r>
                        </a:p>
                        <a:p>
                          <a:pPr algn="ctr"/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Malignant:171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optimization based FNN network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0954" t="-44909" r="-73844" b="-116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Accuracy: 85.71%</a:t>
                          </a:r>
                        </a:p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2402170"/>
                      </a:ext>
                    </a:extLst>
                  </a:tr>
                  <a:tr h="26967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A. S.  Azar et al. [5]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Sample:42827</a:t>
                          </a:r>
                        </a:p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Feature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: 17</a:t>
                          </a:r>
                        </a:p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Grid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search based </a:t>
                          </a:r>
                          <a:r>
                            <a:rPr lang="en-US" sz="2800" baseline="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hyperparameter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tuning with random forest classifier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criterion: </a:t>
                          </a:r>
                          <a:r>
                            <a:rPr lang="en-US" sz="280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gini</a:t>
                          </a:r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, </a:t>
                          </a:r>
                        </a:p>
                        <a:p>
                          <a:pPr algn="ctr"/>
                          <a:r>
                            <a:rPr lang="en-US" sz="280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max_depth</a:t>
                          </a:r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: none and </a:t>
                          </a:r>
                          <a:r>
                            <a:rPr lang="en-US" sz="280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n_estimators</a:t>
                          </a:r>
                          <a:r>
                            <a:rPr lang="en-US" sz="28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: 100 </a:t>
                          </a: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Accuracy:88.7%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F1-score: 71.7%</a:t>
                          </a:r>
                        </a:p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86235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877727" y="674379"/>
            <a:ext cx="14187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Literature </a:t>
            </a:r>
            <a:r>
              <a:rPr lang="en-US" sz="4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Review: </a:t>
            </a:r>
            <a:r>
              <a:rPr lang="en-US" sz="40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lang="en-US" sz="4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Tuning</a:t>
            </a:r>
            <a:endParaRPr lang="en-US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71805" y="1541606"/>
            <a:ext cx="8839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Summary table based 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tuning</a:t>
            </a:r>
          </a:p>
        </p:txBody>
      </p:sp>
      <p:sp>
        <p:nvSpPr>
          <p:cNvPr id="9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41290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33500" y="9062044"/>
            <a:ext cx="1752600" cy="547688"/>
          </a:xfrm>
        </p:spPr>
        <p:txBody>
          <a:bodyPr/>
          <a:lstStyle/>
          <a:p>
            <a:pPr algn="ctr"/>
            <a:fld id="{D819E27A-F466-4ED3-9404-D4B5E51AA4B0}" type="datetime1">
              <a:rPr lang="en-US" sz="2000" smtClean="0">
                <a:solidFill>
                  <a:schemeClr val="tx2"/>
                </a:solidFill>
              </a:rPr>
              <a:pPr algn="ctr"/>
              <a:t>12/17/2025</a:t>
            </a:fld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6578766" y="9062044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2"/>
                </a:solidFill>
              </a:rPr>
              <a:pPr algn="ctr"/>
              <a:t>12</a:t>
            </a:fld>
            <a:endParaRPr lang="en-US" sz="2000" dirty="0">
              <a:solidFill>
                <a:schemeClr val="tx2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034089"/>
              </p:ext>
            </p:extLst>
          </p:nvPr>
        </p:nvGraphicFramePr>
        <p:xfrm>
          <a:off x="2209800" y="2857500"/>
          <a:ext cx="12649200" cy="4968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62300">
                  <a:extLst>
                    <a:ext uri="{9D8B030D-6E8A-4147-A177-3AD203B41FA5}">
                      <a16:colId xmlns:a16="http://schemas.microsoft.com/office/drawing/2014/main" val="1658930785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1292997454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315043015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3338220667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88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506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 D.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Patil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, P. J.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Deore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V. B.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Patil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[6]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Sample:187</a:t>
                      </a:r>
                    </a:p>
                    <a:p>
                      <a:pPr algn="ctr"/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Benign: 112</a:t>
                      </a:r>
                    </a:p>
                    <a:p>
                      <a:pPr algn="ctr"/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Malignant:75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Segmentation based random forest classifier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86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402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S.M. </a:t>
                      </a:r>
                      <a:r>
                        <a:rPr lang="en-US" sz="2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Ayyoubzadeh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</a:t>
                      </a:r>
                      <a:r>
                        <a:rPr lang="en-US" sz="2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[7]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Sample:349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49</a:t>
                      </a:r>
                    </a:p>
                    <a:p>
                      <a:pPr algn="ctr"/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Benign: 178</a:t>
                      </a:r>
                    </a:p>
                    <a:p>
                      <a:pPr algn="ctr"/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Malignant:171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classifier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86.75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 : 81.36%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Recall: 91.6</a:t>
                      </a:r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F1-score: 88.01 %</a:t>
                      </a:r>
                    </a:p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62355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35519" y="1977738"/>
            <a:ext cx="8839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3: Summary table based on classification</a:t>
            </a:r>
          </a:p>
        </p:txBody>
      </p:sp>
      <p:sp>
        <p:nvSpPr>
          <p:cNvPr id="9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9"/>
          <p:cNvSpPr txBox="1"/>
          <p:nvPr/>
        </p:nvSpPr>
        <p:spPr>
          <a:xfrm>
            <a:off x="2057400" y="878430"/>
            <a:ext cx="14187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Literature </a:t>
            </a:r>
            <a:r>
              <a:rPr lang="en-US" sz="4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Review: Classification</a:t>
            </a:r>
            <a:endParaRPr lang="en-US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21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9137" y="3999244"/>
            <a:ext cx="16230600" cy="2288512"/>
            <a:chOff x="0" y="0"/>
            <a:chExt cx="21640800" cy="3051349"/>
          </a:xfrm>
        </p:grpSpPr>
        <p:sp>
          <p:nvSpPr>
            <p:cNvPr id="3" name="Freeform 3"/>
            <p:cNvSpPr/>
            <p:nvPr/>
          </p:nvSpPr>
          <p:spPr>
            <a:xfrm>
              <a:off x="18346762" y="0"/>
              <a:ext cx="3051349" cy="3051349"/>
            </a:xfrm>
            <a:custGeom>
              <a:avLst/>
              <a:gdLst/>
              <a:ahLst/>
              <a:cxnLst/>
              <a:rect l="l" t="t" r="r" b="b"/>
              <a:pathLst>
                <a:path w="3051349" h="3051349">
                  <a:moveTo>
                    <a:pt x="0" y="0"/>
                  </a:moveTo>
                  <a:lnTo>
                    <a:pt x="3051349" y="0"/>
                  </a:lnTo>
                  <a:lnTo>
                    <a:pt x="3051349" y="3051349"/>
                  </a:lnTo>
                  <a:lnTo>
                    <a:pt x="0" y="3051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780693"/>
              <a:ext cx="21640800" cy="2042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899"/>
                </a:lnSpc>
              </a:pPr>
              <a:r>
                <a:rPr lang="en-US" sz="8499" b="1">
                  <a:solidFill>
                    <a:srgbClr val="050A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Materials and Methods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3AB95-3012-9412-DBF3-934B2D7E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8788200"/>
            <a:ext cx="1524000" cy="547688"/>
          </a:xfrm>
        </p:spPr>
        <p:txBody>
          <a:bodyPr/>
          <a:lstStyle/>
          <a:p>
            <a:fld id="{4512A945-4B09-4308-B761-11D179A4D468}" type="datetime1">
              <a:rPr lang="en-US" sz="2000" smtClean="0">
                <a:solidFill>
                  <a:schemeClr val="tx2"/>
                </a:solidFill>
              </a:rPr>
              <a:t>12/17/2025</a:t>
            </a:fld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32EF3-B234-32E8-39D5-9227316F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71508" y="8788200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2"/>
                </a:solidFill>
              </a:rPr>
              <a:pPr algn="ctr"/>
              <a:t>13</a:t>
            </a:fld>
            <a:endParaRPr 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7" name="TextBox 67"/>
          <p:cNvSpPr txBox="1"/>
          <p:nvPr/>
        </p:nvSpPr>
        <p:spPr>
          <a:xfrm>
            <a:off x="4232603" y="581025"/>
            <a:ext cx="9822794" cy="1466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</a:t>
            </a:r>
            <a:r>
              <a:rPr lang="en-US" sz="8500" b="1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3AB95-3012-9412-DBF3-934B2D7E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486725"/>
            <a:ext cx="1676400" cy="547688"/>
          </a:xfrm>
        </p:spPr>
        <p:txBody>
          <a:bodyPr/>
          <a:lstStyle/>
          <a:p>
            <a:pPr algn="ctr"/>
            <a:fld id="{470817E0-7B47-406A-BC44-5957ED8139AE}" type="datetime1">
              <a:rPr lang="en-US" sz="2000" smtClean="0">
                <a:solidFill>
                  <a:schemeClr val="tx2"/>
                </a:solidFill>
              </a:rPr>
              <a:pPr algn="ctr"/>
              <a:t>12/17/2025</a:t>
            </a:fld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18B5F637-8D2E-A750-1517-F330BB7E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33959" y="9222266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2"/>
                </a:solidFill>
              </a:rPr>
              <a:pPr algn="ctr"/>
              <a:t>14</a:t>
            </a:fld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62600" y="9496110"/>
            <a:ext cx="933099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5: Overall methodology of the study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905000" y="3149148"/>
            <a:ext cx="2327603" cy="9144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4776665" y="3364032"/>
            <a:ext cx="978408" cy="484632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12649200" y="3364032"/>
            <a:ext cx="978408" cy="484632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8654796" y="3335846"/>
            <a:ext cx="978408" cy="484632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14841538" y="6388610"/>
            <a:ext cx="484632" cy="978408"/>
          </a:xfrm>
          <a:prstGeom prst="up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>
            <a:off x="12420091" y="5605338"/>
            <a:ext cx="978408" cy="484632"/>
          </a:xfrm>
          <a:prstGeom prst="lef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14841538" y="4304359"/>
            <a:ext cx="484632" cy="978408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5998743" y="3098981"/>
            <a:ext cx="2327603" cy="9144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891726" y="3160595"/>
            <a:ext cx="2327603" cy="9144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3784709" y="3160595"/>
            <a:ext cx="2598291" cy="9144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3784709" y="5350823"/>
            <a:ext cx="2598291" cy="9144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888097" y="5350823"/>
            <a:ext cx="2327603" cy="9144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784709" y="7490405"/>
            <a:ext cx="2598291" cy="9144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Tuning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41171" y="1780160"/>
            <a:ext cx="13805654" cy="1664304"/>
            <a:chOff x="0" y="0"/>
            <a:chExt cx="3371150" cy="406400"/>
          </a:xfrm>
          <a:solidFill>
            <a:schemeClr val="accent2">
              <a:lumMod val="75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3371150" cy="406400"/>
            </a:xfrm>
            <a:custGeom>
              <a:avLst/>
              <a:gdLst/>
              <a:ahLst/>
              <a:cxnLst/>
              <a:rect l="l" t="t" r="r" b="b"/>
              <a:pathLst>
                <a:path w="3371150" h="406400">
                  <a:moveTo>
                    <a:pt x="0" y="0"/>
                  </a:moveTo>
                  <a:lnTo>
                    <a:pt x="3371150" y="0"/>
                  </a:lnTo>
                  <a:lnTo>
                    <a:pt x="3371150" y="406400"/>
                  </a:lnTo>
                  <a:lnTo>
                    <a:pt x="0" y="406400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371150" cy="4064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40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Dataset Collected from </a:t>
              </a:r>
              <a:r>
                <a:rPr lang="en-US" sz="4000" dirty="0" err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Mendeley</a:t>
              </a:r>
              <a:r>
                <a:rPr lang="en-US" sz="40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Data Repository [8]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66489" y="352778"/>
            <a:ext cx="10355019" cy="148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8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Description </a:t>
            </a:r>
            <a:r>
              <a:rPr lang="en-US" sz="8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 Dataset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252056" y="3541579"/>
            <a:ext cx="5912227" cy="1664304"/>
            <a:chOff x="0" y="0"/>
            <a:chExt cx="3371150" cy="406400"/>
          </a:xfrm>
          <a:solidFill>
            <a:schemeClr val="accent2">
              <a:lumMod val="75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3371150" cy="406400"/>
            </a:xfrm>
            <a:custGeom>
              <a:avLst/>
              <a:gdLst/>
              <a:ahLst/>
              <a:cxnLst/>
              <a:rect l="l" t="t" r="r" b="b"/>
              <a:pathLst>
                <a:path w="3371150" h="406400">
                  <a:moveTo>
                    <a:pt x="0" y="0"/>
                  </a:moveTo>
                  <a:lnTo>
                    <a:pt x="3371150" y="0"/>
                  </a:lnTo>
                  <a:lnTo>
                    <a:pt x="3371150" y="406400"/>
                  </a:lnTo>
                  <a:lnTo>
                    <a:pt x="0" y="406400"/>
                  </a:lnTo>
                  <a:close/>
                </a:path>
              </a:pathLst>
            </a:custGeom>
            <a:grpFill/>
          </p:spPr>
        </p:sp>
        <p:sp>
          <p:nvSpPr>
            <p:cNvPr id="8" name="TextBox 8"/>
            <p:cNvSpPr txBox="1"/>
            <p:nvPr/>
          </p:nvSpPr>
          <p:spPr>
            <a:xfrm>
              <a:off x="0" y="6982"/>
              <a:ext cx="3371150" cy="3994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40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Number of patients : </a:t>
              </a:r>
              <a:r>
                <a:rPr lang="en-US" sz="4000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349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62942" y="5421102"/>
            <a:ext cx="5912227" cy="1664304"/>
            <a:chOff x="0" y="0"/>
            <a:chExt cx="3371150" cy="406400"/>
          </a:xfrm>
          <a:solidFill>
            <a:schemeClr val="accent2">
              <a:lumMod val="75000"/>
            </a:schemeClr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71150" cy="406400"/>
            </a:xfrm>
            <a:custGeom>
              <a:avLst/>
              <a:gdLst/>
              <a:ahLst/>
              <a:cxnLst/>
              <a:rect l="l" t="t" r="r" b="b"/>
              <a:pathLst>
                <a:path w="3371150" h="406400">
                  <a:moveTo>
                    <a:pt x="0" y="0"/>
                  </a:moveTo>
                  <a:lnTo>
                    <a:pt x="3371150" y="0"/>
                  </a:lnTo>
                  <a:lnTo>
                    <a:pt x="3371150" y="406400"/>
                  </a:lnTo>
                  <a:lnTo>
                    <a:pt x="0" y="406400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3371150" cy="4064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40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Number of Features</a:t>
              </a:r>
              <a:r>
                <a:rPr lang="en-US" sz="4000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: 49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4BC9AC3-75B5-E213-1C51-1481047D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38400" y="9122900"/>
            <a:ext cx="1528089" cy="547688"/>
          </a:xfrm>
        </p:spPr>
        <p:txBody>
          <a:bodyPr/>
          <a:lstStyle/>
          <a:p>
            <a:pPr algn="ctr"/>
            <a:fld id="{AF6C60FE-9F66-4B20-85D6-D594087C4B35}" type="datetime1">
              <a:rPr lang="en-US" sz="2000" smtClean="0">
                <a:solidFill>
                  <a:schemeClr val="tx2"/>
                </a:solidFill>
              </a:rPr>
              <a:pPr algn="ctr"/>
              <a:t>12/17/2025</a:t>
            </a:fld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4E4BD99-E0C5-225B-91FF-C3A1FB3F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87800" y="9122900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2"/>
                </a:solidFill>
              </a:rPr>
              <a:pPr algn="ctr"/>
              <a:t>15</a:t>
            </a:fld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29994" y="5994375"/>
            <a:ext cx="52721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Ethically approved </a:t>
            </a:r>
          </a:p>
        </p:txBody>
      </p:sp>
      <p:sp>
        <p:nvSpPr>
          <p:cNvPr id="20" name="TextBox 11"/>
          <p:cNvSpPr txBox="1"/>
          <p:nvPr/>
        </p:nvSpPr>
        <p:spPr>
          <a:xfrm>
            <a:off x="2241171" y="7194704"/>
            <a:ext cx="5912227" cy="166430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000" b="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Benign: 178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000" b="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Malignant:171</a:t>
            </a:r>
            <a:endParaRPr lang="en-US" sz="4000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81735" y="3926912"/>
            <a:ext cx="2276257" cy="2282344"/>
          </a:xfrm>
          <a:custGeom>
            <a:avLst/>
            <a:gdLst/>
            <a:ahLst/>
            <a:cxnLst/>
            <a:rect l="l" t="t" r="r" b="b"/>
            <a:pathLst>
              <a:path w="2276257" h="2282344">
                <a:moveTo>
                  <a:pt x="0" y="0"/>
                </a:moveTo>
                <a:lnTo>
                  <a:pt x="2276257" y="0"/>
                </a:lnTo>
                <a:lnTo>
                  <a:pt x="2276257" y="2282344"/>
                </a:lnTo>
                <a:lnTo>
                  <a:pt x="0" y="228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849111" y="3506506"/>
            <a:ext cx="3369469" cy="2799575"/>
          </a:xfrm>
          <a:custGeom>
            <a:avLst/>
            <a:gdLst/>
            <a:ahLst/>
            <a:cxnLst/>
            <a:rect l="l" t="t" r="r" b="b"/>
            <a:pathLst>
              <a:path w="3369469" h="2799575">
                <a:moveTo>
                  <a:pt x="0" y="0"/>
                </a:moveTo>
                <a:lnTo>
                  <a:pt x="3369469" y="0"/>
                </a:lnTo>
                <a:lnTo>
                  <a:pt x="3369469" y="2799575"/>
                </a:lnTo>
                <a:lnTo>
                  <a:pt x="0" y="2799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73316" y="733728"/>
            <a:ext cx="10141368" cy="148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8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</a:t>
            </a:r>
            <a:r>
              <a:rPr lang="en-US" sz="8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57472" y="6643172"/>
            <a:ext cx="876212" cy="55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49111" y="6819362"/>
            <a:ext cx="3369469" cy="55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02763" y="6819362"/>
            <a:ext cx="3234201" cy="55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Preprocessed Data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660479" y="5087134"/>
            <a:ext cx="1348740" cy="0"/>
          </a:xfrm>
          <a:prstGeom prst="line">
            <a:avLst/>
          </a:prstGeom>
          <a:ln w="38100" cap="flat">
            <a:solidFill>
              <a:srgbClr val="064D6D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12654023" y="5162550"/>
            <a:ext cx="1348740" cy="0"/>
          </a:xfrm>
          <a:prstGeom prst="line">
            <a:avLst/>
          </a:prstGeom>
          <a:ln w="38100" cap="flat">
            <a:solidFill>
              <a:srgbClr val="064D6D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C131C81-38E5-7C89-569E-AE87F4DC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1485" y="9120977"/>
            <a:ext cx="1744216" cy="547688"/>
          </a:xfrm>
        </p:spPr>
        <p:txBody>
          <a:bodyPr/>
          <a:lstStyle/>
          <a:p>
            <a:pPr algn="ctr"/>
            <a:fld id="{64DB6F5E-2184-4B37-AAD9-DDC34471F28D}" type="datetime1">
              <a:rPr lang="en-US" sz="2000" smtClean="0">
                <a:solidFill>
                  <a:schemeClr val="tx2"/>
                </a:solidFill>
              </a:rPr>
              <a:pPr algn="ctr"/>
              <a:t>12/17/2025</a:t>
            </a:fld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6B9027A-6A75-18AB-9C22-5BFAE985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49737" y="9120977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2"/>
                </a:solidFill>
              </a:rPr>
              <a:pPr algn="ctr"/>
              <a:t>16</a:t>
            </a:fld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2456" y="4563595"/>
            <a:ext cx="4587196" cy="104707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78664" y="7510603"/>
            <a:ext cx="670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values with the column mean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5759" y="4002328"/>
            <a:ext cx="2276257" cy="2282344"/>
          </a:xfrm>
          <a:custGeom>
            <a:avLst/>
            <a:gdLst/>
            <a:ahLst/>
            <a:cxnLst/>
            <a:rect l="l" t="t" r="r" b="b"/>
            <a:pathLst>
              <a:path w="2276257" h="2282344">
                <a:moveTo>
                  <a:pt x="0" y="0"/>
                </a:moveTo>
                <a:lnTo>
                  <a:pt x="2276257" y="0"/>
                </a:lnTo>
                <a:lnTo>
                  <a:pt x="2276257" y="2282344"/>
                </a:lnTo>
                <a:lnTo>
                  <a:pt x="0" y="228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76436" y="733728"/>
            <a:ext cx="8535127" cy="126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8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</a:t>
            </a:r>
            <a:r>
              <a:rPr lang="en-US" sz="8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103284" y="5453623"/>
            <a:ext cx="438710" cy="43871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103284" y="4704790"/>
            <a:ext cx="438710" cy="43871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B9F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46221" y="4704790"/>
            <a:ext cx="438710" cy="43871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70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389159" y="4704790"/>
            <a:ext cx="438710" cy="4387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46221" y="5453623"/>
            <a:ext cx="438710" cy="43871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89159" y="5453623"/>
            <a:ext cx="438710" cy="43871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88374" y="5014913"/>
            <a:ext cx="438710" cy="43871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7A0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951694" y="5014913"/>
            <a:ext cx="438710" cy="43871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3F47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00154" y="3783425"/>
            <a:ext cx="1999674" cy="2901685"/>
            <a:chOff x="0" y="0"/>
            <a:chExt cx="2666232" cy="386891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830033" cy="871122"/>
              <a:chOff x="0" y="0"/>
              <a:chExt cx="125146" cy="13134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15603" y="0"/>
              <a:ext cx="830033" cy="871122"/>
              <a:chOff x="0" y="0"/>
              <a:chExt cx="125146" cy="13134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836198" y="0"/>
              <a:ext cx="830033" cy="871122"/>
              <a:chOff x="0" y="0"/>
              <a:chExt cx="125146" cy="13134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1042262"/>
              <a:ext cx="830033" cy="871122"/>
              <a:chOff x="0" y="0"/>
              <a:chExt cx="125146" cy="13134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15603" y="1042262"/>
              <a:ext cx="830033" cy="871122"/>
              <a:chOff x="0" y="0"/>
              <a:chExt cx="125146" cy="13134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836198" y="1042262"/>
              <a:ext cx="830033" cy="871122"/>
              <a:chOff x="0" y="0"/>
              <a:chExt cx="125146" cy="131341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5400000">
              <a:off x="956918" y="2036790"/>
              <a:ext cx="752397" cy="827325"/>
              <a:chOff x="0" y="0"/>
              <a:chExt cx="739187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73918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39187" h="812800">
                    <a:moveTo>
                      <a:pt x="739187" y="406400"/>
                    </a:moveTo>
                    <a:lnTo>
                      <a:pt x="332787" y="0"/>
                    </a:lnTo>
                    <a:lnTo>
                      <a:pt x="332787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332787" y="609600"/>
                    </a:lnTo>
                    <a:lnTo>
                      <a:pt x="332787" y="812800"/>
                    </a:lnTo>
                    <a:lnTo>
                      <a:pt x="739187" y="40640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174625"/>
                <a:ext cx="637587" cy="434975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04437" y="2997790"/>
              <a:ext cx="830033" cy="871122"/>
              <a:chOff x="0" y="0"/>
              <a:chExt cx="125146" cy="13134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54" name="AutoShape 54"/>
            <p:cNvSpPr/>
            <p:nvPr/>
          </p:nvSpPr>
          <p:spPr>
            <a:xfrm>
              <a:off x="644867" y="3328796"/>
              <a:ext cx="549172" cy="0"/>
            </a:xfrm>
            <a:prstGeom prst="line">
              <a:avLst/>
            </a:prstGeom>
            <a:ln w="8890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646532" y="3498943"/>
              <a:ext cx="371809" cy="13681"/>
            </a:xfrm>
            <a:prstGeom prst="line">
              <a:avLst/>
            </a:prstGeom>
            <a:ln w="8890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1420040" y="2985133"/>
              <a:ext cx="830033" cy="871122"/>
              <a:chOff x="0" y="0"/>
              <a:chExt cx="125146" cy="13134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59" name="AutoShape 59"/>
            <p:cNvSpPr/>
            <p:nvPr/>
          </p:nvSpPr>
          <p:spPr>
            <a:xfrm>
              <a:off x="1560471" y="3328796"/>
              <a:ext cx="549172" cy="0"/>
            </a:xfrm>
            <a:prstGeom prst="line">
              <a:avLst/>
            </a:prstGeom>
            <a:ln w="8890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1562136" y="3498943"/>
              <a:ext cx="371809" cy="13681"/>
            </a:xfrm>
            <a:prstGeom prst="line">
              <a:avLst/>
            </a:prstGeom>
            <a:ln w="8890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4019103" y="4812223"/>
            <a:ext cx="1742497" cy="882190"/>
            <a:chOff x="0" y="0"/>
            <a:chExt cx="2323329" cy="1176253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16846"/>
              <a:ext cx="1104720" cy="1159407"/>
              <a:chOff x="0" y="0"/>
              <a:chExt cx="125146" cy="13134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65" name="AutoShape 65"/>
            <p:cNvSpPr/>
            <p:nvPr/>
          </p:nvSpPr>
          <p:spPr>
            <a:xfrm>
              <a:off x="186904" y="457393"/>
              <a:ext cx="730913" cy="0"/>
            </a:xfrm>
            <a:prstGeom prst="line">
              <a:avLst/>
            </a:prstGeom>
            <a:ln w="11832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189120" y="683847"/>
              <a:ext cx="494853" cy="18208"/>
            </a:xfrm>
            <a:prstGeom prst="line">
              <a:avLst/>
            </a:prstGeom>
            <a:ln w="11832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1218608" y="0"/>
              <a:ext cx="1104720" cy="1159407"/>
              <a:chOff x="0" y="0"/>
              <a:chExt cx="125146" cy="131341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125146" cy="131341"/>
              </a:xfrm>
              <a:custGeom>
                <a:avLst/>
                <a:gdLst/>
                <a:ahLst/>
                <a:cxnLst/>
                <a:rect l="l" t="t" r="r" b="b"/>
                <a:pathLst>
                  <a:path w="125146" h="131341">
                    <a:moveTo>
                      <a:pt x="0" y="0"/>
                    </a:moveTo>
                    <a:lnTo>
                      <a:pt x="125146" y="0"/>
                    </a:lnTo>
                    <a:lnTo>
                      <a:pt x="125146" y="131341"/>
                    </a:lnTo>
                    <a:lnTo>
                      <a:pt x="0" y="131341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28575"/>
                <a:ext cx="125146" cy="159916"/>
              </a:xfrm>
              <a:prstGeom prst="rect">
                <a:avLst/>
              </a:prstGeom>
            </p:spPr>
            <p:txBody>
              <a:bodyPr lIns="90562" tIns="90562" rIns="90562" bIns="90562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70" name="AutoShape 70"/>
            <p:cNvSpPr/>
            <p:nvPr/>
          </p:nvSpPr>
          <p:spPr>
            <a:xfrm>
              <a:off x="1405512" y="457393"/>
              <a:ext cx="730913" cy="0"/>
            </a:xfrm>
            <a:prstGeom prst="line">
              <a:avLst/>
            </a:prstGeom>
            <a:ln w="11832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1407728" y="683847"/>
              <a:ext cx="494853" cy="18208"/>
            </a:xfrm>
            <a:prstGeom prst="line">
              <a:avLst/>
            </a:prstGeom>
            <a:ln w="118320" cap="flat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72" name="AutoShape 72"/>
          <p:cNvSpPr/>
          <p:nvPr/>
        </p:nvSpPr>
        <p:spPr>
          <a:xfrm>
            <a:off x="4172103" y="5253318"/>
            <a:ext cx="1016184" cy="0"/>
          </a:xfrm>
          <a:prstGeom prst="line">
            <a:avLst/>
          </a:prstGeom>
          <a:ln w="38100" cap="flat">
            <a:solidFill>
              <a:srgbClr val="050A3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3" name="AutoShape 73"/>
          <p:cNvSpPr/>
          <p:nvPr/>
        </p:nvSpPr>
        <p:spPr>
          <a:xfrm>
            <a:off x="8783920" y="5253318"/>
            <a:ext cx="1016184" cy="0"/>
          </a:xfrm>
          <a:prstGeom prst="line">
            <a:avLst/>
          </a:prstGeom>
          <a:ln w="38100" cap="flat">
            <a:solidFill>
              <a:srgbClr val="050A3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4" name="AutoShape 74"/>
          <p:cNvSpPr/>
          <p:nvPr/>
        </p:nvSpPr>
        <p:spPr>
          <a:xfrm>
            <a:off x="12602869" y="5215218"/>
            <a:ext cx="1016184" cy="0"/>
          </a:xfrm>
          <a:prstGeom prst="line">
            <a:avLst/>
          </a:prstGeom>
          <a:ln w="38100" cap="flat">
            <a:solidFill>
              <a:srgbClr val="050A3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5" name="TextBox 75"/>
          <p:cNvSpPr txBox="1"/>
          <p:nvPr/>
        </p:nvSpPr>
        <p:spPr>
          <a:xfrm>
            <a:off x="2141101" y="6685110"/>
            <a:ext cx="985573" cy="63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7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900988" y="6685110"/>
            <a:ext cx="1690467" cy="109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7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(49)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366428" y="6926675"/>
            <a:ext cx="366712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7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Reduction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348449" y="6201980"/>
            <a:ext cx="3386446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7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Features (20-stable)</a:t>
            </a:r>
          </a:p>
        </p:txBody>
      </p:sp>
      <p:sp>
        <p:nvSpPr>
          <p:cNvPr id="81" name="Date Placeholder 80">
            <a:extLst>
              <a:ext uri="{FF2B5EF4-FFF2-40B4-BE49-F238E27FC236}">
                <a16:creationId xmlns:a16="http://schemas.microsoft.com/office/drawing/2014/main" id="{D9A4018D-0444-C625-C7D7-B5CD12F0D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57146" y="9182100"/>
            <a:ext cx="1669528" cy="547688"/>
          </a:xfrm>
        </p:spPr>
        <p:txBody>
          <a:bodyPr/>
          <a:lstStyle/>
          <a:p>
            <a:fld id="{F7D25CB3-6691-41C2-8A86-736A44337BE9}" type="datetime1">
              <a:rPr lang="en-US" sz="2000" smtClean="0">
                <a:solidFill>
                  <a:schemeClr val="tx1"/>
                </a:solidFill>
              </a:rPr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BC1CAEA8-5E4A-0FA8-CEF4-B4DA8820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05866" y="9182100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17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5773400" y="598463"/>
            <a:ext cx="993454" cy="1265346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66836" y="733728"/>
            <a:ext cx="8535127" cy="126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8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</a:t>
            </a:r>
            <a:r>
              <a:rPr lang="en-US" sz="8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38200" y="4312375"/>
            <a:ext cx="8685099" cy="4227713"/>
            <a:chOff x="0" y="-167289"/>
            <a:chExt cx="11580132" cy="5636951"/>
          </a:xfrm>
        </p:grpSpPr>
        <p:sp>
          <p:nvSpPr>
            <p:cNvPr id="10" name="TextBox 10"/>
            <p:cNvSpPr txBox="1"/>
            <p:nvPr/>
          </p:nvSpPr>
          <p:spPr>
            <a:xfrm>
              <a:off x="330359" y="-167289"/>
              <a:ext cx="11249773" cy="5636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44960" lvl="1" indent="-272480" algn="ctr">
                <a:lnSpc>
                  <a:spcPts val="3483"/>
                </a:lnSpc>
                <a:buFont typeface="Arial"/>
                <a:buChar char="•"/>
              </a:pPr>
              <a:endParaRPr/>
            </a:p>
          </p:txBody>
        </p:sp>
        <p:sp>
          <p:nvSpPr>
            <p:cNvPr id="11" name="AutoShape 11"/>
            <p:cNvSpPr/>
            <p:nvPr/>
          </p:nvSpPr>
          <p:spPr>
            <a:xfrm flipV="1">
              <a:off x="330359" y="636407"/>
              <a:ext cx="11249773" cy="0"/>
            </a:xfrm>
            <a:prstGeom prst="line">
              <a:avLst/>
            </a:prstGeom>
            <a:ln w="50800" cap="flat">
              <a:solidFill>
                <a:srgbClr val="12229D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47557"/>
              <a:ext cx="11580132" cy="4137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47779" lvl="1" indent="-473890" algn="l">
                <a:lnSpc>
                  <a:spcPts val="6145"/>
                </a:lnSpc>
                <a:buFont typeface="Arial"/>
                <a:buChar char="•"/>
              </a:pPr>
              <a:r>
                <a:rPr lang="en-US" sz="4389" dirty="0">
                  <a:solidFill>
                    <a:srgbClr val="050A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Nature-inspired meta-heuristic optimization algorithm </a:t>
              </a:r>
            </a:p>
            <a:p>
              <a:pPr marL="947779" lvl="1" indent="-473890" algn="l">
                <a:lnSpc>
                  <a:spcPts val="6145"/>
                </a:lnSpc>
                <a:buFont typeface="Arial"/>
                <a:buChar char="•"/>
              </a:pPr>
              <a:r>
                <a:rPr lang="en-US" sz="4389" dirty="0">
                  <a:solidFill>
                    <a:srgbClr val="050A3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Mimics the hunting behavior of humpback whales </a:t>
              </a:r>
            </a:p>
          </p:txBody>
        </p:sp>
      </p:grp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E861288-471F-3D28-E56B-5E7C6BE2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8712" y="9591476"/>
            <a:ext cx="1676400" cy="547688"/>
          </a:xfrm>
        </p:spPr>
        <p:txBody>
          <a:bodyPr/>
          <a:lstStyle/>
          <a:p>
            <a:pPr algn="ctr"/>
            <a:fld id="{36CB5D2D-138E-4CA5-BE87-725E607BD84E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08DF1B4-7C6A-AE5B-06C9-4DADDA22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58530" y="9591476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18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8" name="Picture 2" descr="The bubble-net hunting strategy used by humpback whal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334" y="2459757"/>
            <a:ext cx="7553205" cy="608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3"/>
          <p:cNvSpPr txBox="1"/>
          <p:nvPr/>
        </p:nvSpPr>
        <p:spPr>
          <a:xfrm>
            <a:off x="381000" y="3263928"/>
            <a:ext cx="13285320" cy="988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99"/>
              </a:lnSpc>
              <a:spcBef>
                <a:spcPct val="0"/>
              </a:spcBef>
            </a:pPr>
            <a:r>
              <a:rPr lang="en-US" sz="5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Whale Optimization Algorithm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08606" y="8660543"/>
            <a:ext cx="6154249" cy="810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6: Bubble net hunting strategy [9]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876300"/>
            <a:ext cx="16142136" cy="1419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  <a:spcBef>
                <a:spcPct val="0"/>
              </a:spcBef>
            </a:pPr>
            <a:r>
              <a:rPr lang="en-US" sz="7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Whale Optimization</a:t>
            </a:r>
            <a:r>
              <a:rPr lang="en-US" sz="7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</a:t>
            </a:r>
          </a:p>
        </p:txBody>
      </p:sp>
      <p:sp>
        <p:nvSpPr>
          <p:cNvPr id="58" name="Freeform 58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CC</a:t>
            </a:r>
          </a:p>
        </p:txBody>
      </p:sp>
      <p:sp>
        <p:nvSpPr>
          <p:cNvPr id="61" name="Date Placeholder 60">
            <a:extLst>
              <a:ext uri="{FF2B5EF4-FFF2-40B4-BE49-F238E27FC236}">
                <a16:creationId xmlns:a16="http://schemas.microsoft.com/office/drawing/2014/main" id="{F208AD49-2CA0-6708-AFF0-8C1E4884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57400" y="9335888"/>
            <a:ext cx="1752600" cy="547688"/>
          </a:xfrm>
        </p:spPr>
        <p:txBody>
          <a:bodyPr/>
          <a:lstStyle/>
          <a:p>
            <a:pPr algn="ctr"/>
            <a:fld id="{62ABDD1F-4D2A-4478-AA52-DD9F144D883A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3FDA55C5-BFE9-65D1-A76A-5BC169A5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64000" y="9335888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19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38400" y="3543300"/>
            <a:ext cx="12444533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01"/>
              </a:lnSpc>
            </a:pPr>
            <a:r>
              <a:rPr lang="en-US" sz="392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TWO PHASES:</a:t>
            </a:r>
            <a:r>
              <a:rPr lang="en-US" sz="3929" b="1" dirty="0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EXPLORATION AND EXPLOITATION.</a:t>
            </a:r>
          </a:p>
          <a:p>
            <a:pPr marL="875217" lvl="1" indent="-437608" algn="l">
              <a:lnSpc>
                <a:spcPts val="5675"/>
              </a:lnSpc>
              <a:buFont typeface="Arial"/>
              <a:buChar char="•"/>
            </a:pPr>
            <a:r>
              <a:rPr lang="en-US" sz="4053" b="1" dirty="0">
                <a:solidFill>
                  <a:srgbClr val="00B5F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</a:t>
            </a:r>
            <a:r>
              <a:rPr lang="en-US" sz="4053" b="1" dirty="0">
                <a:solidFill>
                  <a:srgbClr val="4BD1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xploration phase</a:t>
            </a:r>
            <a:r>
              <a:rPr lang="en-US" sz="405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(Search for Prey)</a:t>
            </a:r>
          </a:p>
          <a:p>
            <a:pPr marL="875217" lvl="1" indent="-437608" algn="l">
              <a:lnSpc>
                <a:spcPts val="5675"/>
              </a:lnSpc>
              <a:buFont typeface="Arial"/>
              <a:buChar char="•"/>
            </a:pPr>
            <a:r>
              <a:rPr lang="en-US" sz="4053" b="1" dirty="0">
                <a:solidFill>
                  <a:srgbClr val="5271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Exploitation phase </a:t>
            </a:r>
            <a:r>
              <a:rPr lang="en-US" sz="4053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(Encircling and Attacking Prey)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514600" y="948969"/>
            <a:ext cx="1135380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945"/>
              </a:lnSpc>
              <a:spcBef>
                <a:spcPct val="0"/>
              </a:spcBef>
            </a:pPr>
            <a:r>
              <a:rPr lang="en-US" sz="800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Search for Prey </a:t>
            </a:r>
            <a:r>
              <a:rPr lang="en-US" sz="480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(Exploration)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E490446-23B7-EFE6-E8B3-BF3B5923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1200" y="9062044"/>
            <a:ext cx="1689100" cy="547688"/>
          </a:xfrm>
        </p:spPr>
        <p:txBody>
          <a:bodyPr/>
          <a:lstStyle/>
          <a:p>
            <a:pPr algn="ctr"/>
            <a:fld id="{3C211A90-EC29-4959-AAC1-65E6EC1BD1A6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E0E575D-60D9-ABBE-0330-2C2488EC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32696" y="9062044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20</a:t>
            </a:fld>
            <a:endParaRPr 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067300" y="3278051"/>
                <a:ext cx="6248400" cy="18448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</m:acc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𝑟𝑎𝑛𝑑</m:t>
                              </m:r>
                            </m:sub>
                          </m:sSub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 </m:t>
                          </m:r>
                          <m:acc>
                            <m:accPr>
                              <m:chr m:val="⃗"/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4400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+1) = 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𝑟𝑎𝑛𝑑</m:t>
                              </m:r>
                            </m:sub>
                          </m:sSub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300" y="3278051"/>
                <a:ext cx="6248400" cy="18448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67300" y="6438899"/>
                <a:ext cx="5334000" cy="2102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𝑟𝑎𝑛𝑑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𝑟𝑎𝑛𝑑𝑜𝑚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𝑝𝑜𝑠𝑖𝑡𝑖𝑜𝑛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𝑣𝑒𝑐𝑡𝑜𝑟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𝑆𝑒𝑎𝑟𝑐h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𝑣𝑒𝑐𝑡𝑜𝑟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&gt;1→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𝑒𝑥𝑝𝑙𝑜𝑟𝑎𝑡𝑖𝑜𝑛</m:t>
                      </m:r>
                    </m:oMath>
                  </m:oMathPara>
                </a14:m>
                <a:endParaRPr lang="en-US" sz="2800" b="0" dirty="0">
                  <a:cs typeface="Cambria Math" panose="0204050305040603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&lt;1→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𝑒𝑥𝑝𝑙𝑜𝑖𝑡𝑎𝑡𝑖𝑜𝑛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300" y="6438899"/>
                <a:ext cx="5334000" cy="21024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 58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8400" y="839965"/>
            <a:ext cx="116586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25"/>
              </a:lnSpc>
              <a:spcBef>
                <a:spcPct val="0"/>
              </a:spcBef>
            </a:pPr>
            <a:r>
              <a:rPr lang="en-US" sz="802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Encircling Prey </a:t>
            </a:r>
            <a:r>
              <a:rPr lang="en-US" sz="480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(Exploitation)</a:t>
            </a:r>
          </a:p>
        </p:txBody>
      </p:sp>
      <p:sp>
        <p:nvSpPr>
          <p:cNvPr id="6" name="Freeform 6"/>
          <p:cNvSpPr/>
          <p:nvPr/>
        </p:nvSpPr>
        <p:spPr>
          <a:xfrm>
            <a:off x="10134600" y="3002114"/>
            <a:ext cx="6956507" cy="6170461"/>
          </a:xfrm>
          <a:custGeom>
            <a:avLst/>
            <a:gdLst/>
            <a:ahLst/>
            <a:cxnLst/>
            <a:rect l="l" t="t" r="r" b="b"/>
            <a:pathLst>
              <a:path w="6956507" h="6170461">
                <a:moveTo>
                  <a:pt x="0" y="0"/>
                </a:moveTo>
                <a:lnTo>
                  <a:pt x="6956507" y="0"/>
                </a:lnTo>
                <a:lnTo>
                  <a:pt x="6956507" y="6170461"/>
                </a:lnTo>
                <a:lnTo>
                  <a:pt x="0" y="6170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569E"/>
            </a:solidFill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503992" y="9172575"/>
            <a:ext cx="617118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sz="2800" dirty="0">
                <a:solidFill>
                  <a:srgbClr val="05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7: 2D encircling prey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64E81C-7717-41AF-8B2B-FC7B0EF5AD17}"/>
                  </a:ext>
                </a:extLst>
              </p:cNvPr>
              <p:cNvSpPr txBox="1"/>
              <p:nvPr/>
            </p:nvSpPr>
            <p:spPr>
              <a:xfrm>
                <a:off x="1781326" y="4255784"/>
                <a:ext cx="7392923" cy="347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</m:acc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acc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 − </m:t>
                          </m:r>
                          <m:acc>
                            <m:accPr>
                              <m:chr m:val="⃗"/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4400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+1) = 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∗</m:t>
                              </m:r>
                            </m:sup>
                          </m:sSup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) −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sz="4400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 = 2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 − 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 </m:t>
                      </m:r>
                    </m:oMath>
                  </m:oMathPara>
                </a14:m>
                <a:endParaRPr lang="en-US" sz="4400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 = 2.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sz="4400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64E81C-7717-41AF-8B2B-FC7B0EF5A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326" y="4255784"/>
                <a:ext cx="7392923" cy="3478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36B60C9-1DA2-5C31-6140-E23C2821B6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3000" y="9480351"/>
            <a:ext cx="1600200" cy="547688"/>
          </a:xfrm>
        </p:spPr>
        <p:txBody>
          <a:bodyPr/>
          <a:lstStyle/>
          <a:p>
            <a:pPr algn="ctr"/>
            <a:fld id="{CBBB6060-FD00-4808-99DD-382C4B8B2E86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00ABA09-ADC5-0821-E59C-98BFFD8E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64000" y="9480351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21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12036" y="875563"/>
            <a:ext cx="1395893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25"/>
              </a:lnSpc>
              <a:spcBef>
                <a:spcPct val="0"/>
              </a:spcBef>
            </a:pPr>
            <a:r>
              <a:rPr lang="en-US" sz="8020" b="1" u="none" strike="noStrike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Attacking Method </a:t>
            </a:r>
            <a:r>
              <a:rPr lang="en-US" sz="4800" b="1" u="none" strike="noStrike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(Shrinking or Spiral)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7502F-00A5-2B34-FAD7-E1C40268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1200" y="9258300"/>
            <a:ext cx="1676400" cy="547688"/>
          </a:xfrm>
        </p:spPr>
        <p:txBody>
          <a:bodyPr/>
          <a:lstStyle/>
          <a:p>
            <a:pPr algn="ctr"/>
            <a:fld id="{28BE6923-BFBB-4D89-B120-BB1965358FD4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9CE392-2614-6314-96B0-CA790247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64251" y="9258300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22</a:t>
            </a:fld>
            <a:endParaRPr 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124200" y="3373988"/>
                <a:ext cx="12858585" cy="1850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+1) 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4400" i="1">
                                          <a:latin typeface="Cambria Math" panose="02040503050406030204" pitchFamily="18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4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 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𝐷</m:t>
                                  </m:r>
                                </m:e>
                              </m:acc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                             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𝑖𝑓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&lt;0.5</m:t>
                              </m:r>
                            </m:e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𝐷</m:t>
                                  </m:r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’</m:t>
                                  </m:r>
                                </m:e>
                              </m:acc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.</m:t>
                              </m:r>
                              <m:sSup>
                                <m:sSupPr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𝑏𝑙</m:t>
                                  </m:r>
                                </m:sup>
                              </m:sSup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𝑐𝑜𝑠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(2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𝜋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𝑙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 +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4400" i="1">
                                          <a:latin typeface="Cambria Math" panose="02040503050406030204" pitchFamily="18" charset="0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44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     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𝑖𝑓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𝑝</m:t>
                              </m:r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≥ 0.5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3373988"/>
                <a:ext cx="12858585" cy="18509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124200" y="5640169"/>
            <a:ext cx="67922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random number in [0,1]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16532546" y="537385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0"/>
                </a:lnTo>
                <a:lnTo>
                  <a:pt x="0" y="1355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E0C834A-0B49-2868-F9A7-2AD17488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24641" y="9384561"/>
            <a:ext cx="1536700" cy="547688"/>
          </a:xfrm>
        </p:spPr>
        <p:txBody>
          <a:bodyPr/>
          <a:lstStyle/>
          <a:p>
            <a:pPr algn="ctr"/>
            <a:fld id="{7945CC69-C3B7-4E55-99F3-AC85AD7CC1C4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CF9B2D8-F612-2609-FEF3-C33B231C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814578" y="9384561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23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61341" y="835179"/>
            <a:ext cx="9654246" cy="13265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20" b="1" dirty="0">
                <a:latin typeface="Times New Roman Bold"/>
                <a:ea typeface="Times New Roman Bold"/>
                <a:cs typeface="Times New Roman Bold"/>
                <a:sym typeface="Times New Roman"/>
              </a:rPr>
              <a:t>Shrinking Encircling </a:t>
            </a:r>
            <a:endParaRPr lang="en-US" sz="8020" b="1" dirty="0">
              <a:latin typeface="Times New Roman Bold"/>
              <a:ea typeface="Times New Roman Bold"/>
              <a:cs typeface="Times New Roma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97719" y="4381500"/>
                <a:ext cx="9144000" cy="167404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</m:acc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4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acc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 − </m:t>
                          </m:r>
                          <m:acc>
                            <m:accPr>
                              <m:chr m:val="⃗"/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4400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+1) = 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44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4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∗</m:t>
                              </m:r>
                            </m:sup>
                          </m:sSup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) −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</m:acc>
                      <m:r>
                        <a:rPr lang="en-US" sz="44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19" y="4381500"/>
                <a:ext cx="9144000" cy="1674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0305609" y="8193497"/>
            <a:ext cx="70214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800" dirty="0">
                <a:solidFill>
                  <a:srgbClr val="05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8: Shrinking encircling mechanism [10]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33310" y="7286416"/>
                <a:ext cx="5667689" cy="20177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Movement range </a:t>
                </a: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shrinks according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0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sz="4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</m:acc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 optima trap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310" y="7286416"/>
                <a:ext cx="5667689" cy="2017732"/>
              </a:xfrm>
              <a:prstGeom prst="rect">
                <a:avLst/>
              </a:prstGeom>
              <a:blipFill>
                <a:blip r:embed="rId5"/>
                <a:stretch>
                  <a:fillRect l="-3875" t="-5438" r="-4090" b="-12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WOA shrinking encircling mechanism [37]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719" y="2793220"/>
            <a:ext cx="7127244" cy="513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7991" y="2158653"/>
            <a:ext cx="5983418" cy="7094097"/>
            <a:chOff x="0" y="-183255"/>
            <a:chExt cx="7977890" cy="945879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83255"/>
              <a:ext cx="7977890" cy="9458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9987" y="3149037"/>
              <a:ext cx="6557918" cy="1436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9"/>
                </a:lnSpc>
              </a:pPr>
              <a:endParaRPr lang="en-US" sz="300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4209"/>
                </a:lnSpc>
              </a:pPr>
              <a:endParaRPr lang="en-US" sz="300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829800" y="8598694"/>
            <a:ext cx="816816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800" dirty="0">
                <a:solidFill>
                  <a:srgbClr val="05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9: Spiral updating position [10]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40481" y="812630"/>
            <a:ext cx="11680319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25"/>
              </a:lnSpc>
              <a:spcBef>
                <a:spcPct val="0"/>
              </a:spcBef>
            </a:pPr>
            <a:r>
              <a:rPr lang="en-US" sz="8020" b="1" u="none" strike="noStrike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Spiral Updating 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8E8C7A-F32E-3BF4-611B-5A2A462860C2}"/>
                  </a:ext>
                </a:extLst>
              </p:cNvPr>
              <p:cNvSpPr txBox="1"/>
              <p:nvPr/>
            </p:nvSpPr>
            <p:spPr>
              <a:xfrm>
                <a:off x="723463" y="3217391"/>
                <a:ext cx="8191937" cy="1017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+1) = </m:t>
                      </m:r>
                      <m:acc>
                        <m:accPr>
                          <m:chr m:val="⃗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  <m:r>
                            <a:rPr lang="en-US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 .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𝑏𝑙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𝑐𝑜𝑠</m:t>
                      </m:r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(2</m:t>
                      </m:r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𝜋</m:t>
                      </m:r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𝑙</m:t>
                      </m:r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 + 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∗</m:t>
                              </m:r>
                            </m:sup>
                          </m:sSup>
                        </m:e>
                      </m:acc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sz="2800" i="1" dirty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8E8C7A-F32E-3BF4-611B-5A2A46286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63" y="3217391"/>
                <a:ext cx="8191937" cy="10179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F4DEDE0-C6A5-93BE-682A-1C067EBD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9715" y="9522244"/>
            <a:ext cx="1719425" cy="555594"/>
          </a:xfrm>
        </p:spPr>
        <p:txBody>
          <a:bodyPr/>
          <a:lstStyle/>
          <a:p>
            <a:pPr algn="ctr"/>
            <a:fld id="{0996748A-EF9D-477F-AAAD-786E0E70146D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AC18C0A-16AF-164C-5DBB-BB30B2AE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836089" y="9466977"/>
            <a:ext cx="1169651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24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7" name="Picture 16" descr="https://www.researchgate.net/publication/343384093/figure/fig4/AS:1084261255917627@1635519436640/WOA-spiral-updating-position-37.jp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0" y="2259003"/>
            <a:ext cx="7826060" cy="61552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139200" y="4295898"/>
            <a:ext cx="7092270" cy="1657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209"/>
              </a:lnSpc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b=constant  for defining the shape of the logarithmic spiral,</a:t>
            </a:r>
            <a:r>
              <a:rPr lang="en-US" sz="2800" dirty="0"/>
              <a:t> </a:t>
            </a:r>
            <a:br>
              <a:rPr lang="en-US" sz="2800" dirty="0"/>
            </a:b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67370" y="6500822"/>
            <a:ext cx="40495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Explores nearby regions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B88EC2B3-1931-FE5C-8180-23570347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9091" y="9449811"/>
            <a:ext cx="1367909" cy="547688"/>
          </a:xfrm>
        </p:spPr>
        <p:txBody>
          <a:bodyPr/>
          <a:lstStyle/>
          <a:p>
            <a:fld id="{0996748A-EF9D-477F-AAAD-786E0E70146D}" type="datetime1">
              <a:rPr lang="en-US" sz="1600">
                <a:solidFill>
                  <a:schemeClr val="tx1"/>
                </a:solidFill>
              </a:rPr>
              <a:pPr/>
              <a:t>12/17/2025</a:t>
            </a:fld>
            <a:endParaRPr lang="en-US" sz="1400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D272B580-DB47-C1E8-6E0A-DEACE0A6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11060" y="9301996"/>
            <a:ext cx="1027713" cy="403232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667000" y="740852"/>
            <a:ext cx="10058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b="1" dirty="0">
                <a:latin typeface="Times New Roman Bold"/>
                <a:ea typeface="Times New Roman Bold"/>
                <a:cs typeface="Times New Roman Bold"/>
                <a:sym typeface="Times New Roman Bold"/>
              </a:rPr>
              <a:t>Stability Management</a:t>
            </a:r>
            <a:endParaRPr lang="en-US" sz="8000" dirty="0"/>
          </a:p>
        </p:txBody>
      </p:sp>
      <p:sp>
        <p:nvSpPr>
          <p:cNvPr id="30" name="Freeform 30"/>
          <p:cNvSpPr/>
          <p:nvPr/>
        </p:nvSpPr>
        <p:spPr>
          <a:xfrm>
            <a:off x="16838773" y="375988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0"/>
                </a:lnTo>
                <a:lnTo>
                  <a:pt x="0" y="1355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90600" y="2781300"/>
                <a:ext cx="15848173" cy="5140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𝑭𝒓𝒆𝒒𝒖𝒆𝒏𝒄𝒚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𝑵𝒖𝒎𝒃𝒆𝒓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𝒐𝒇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𝒓𝒖𝒏𝒔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𝒘𝒉𝒆𝒓𝒆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𝒇𝒆𝒂𝒕𝒖𝒓𝒆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𝒘𝒂𝒔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𝒔𝒆𝒍𝒆𝒄𝒕𝒆𝒅</m:t>
                          </m:r>
                        </m:num>
                        <m:den>
                          <m:r>
                            <a:rPr lang="en-US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𝑻𝒐𝒕𝒂𝒍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4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𝒓𝒖𝒏𝒔</m:t>
                          </m:r>
                        </m:den>
                      </m:f>
                    </m:oMath>
                  </m:oMathPara>
                </a14:m>
                <a:endParaRPr lang="en-US" sz="5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/>
                  <a:t> </a:t>
                </a:r>
              </a:p>
              <a:p>
                <a:endParaRPr lang="en-US" sz="24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Frequency of each feature in selected subsets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WOA prioritized the high frequency features in next iterations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Ensures individual feature’s stability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781300"/>
                <a:ext cx="15848173" cy="5140510"/>
              </a:xfrm>
              <a:prstGeom prst="rect">
                <a:avLst/>
              </a:prstGeom>
              <a:blipFill>
                <a:blip r:embed="rId3"/>
                <a:stretch>
                  <a:fillRect l="-1077" b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015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59DCBD66-B8BF-E164-A203-7214A000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6468" y="9356576"/>
            <a:ext cx="1676400" cy="547688"/>
          </a:xfrm>
        </p:spPr>
        <p:txBody>
          <a:bodyPr/>
          <a:lstStyle/>
          <a:p>
            <a:pPr algn="ctr"/>
            <a:fld id="{8C5BB314-37DC-4A54-8916-DF4A0BEA71FB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E5B9896-F897-5B4E-25C0-AFB306AB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030686" y="9353489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26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107798"/>
            <a:ext cx="8829452" cy="49665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934700" y="2090775"/>
                <a:ext cx="5791200" cy="21010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23900" marR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6000" i="1" smtClean="0">
                        <a:latin typeface="Cambria Math" panose="02040503050406030204" pitchFamily="18" charset="0"/>
                        <a:ea typeface="DengXian"/>
                        <a:cs typeface="Times New Roman" panose="02020603050405020304" pitchFamily="18" charset="0"/>
                      </a:rPr>
                      <m:t>𝐽</m:t>
                    </m:r>
                    <m:d>
                      <m:dPr>
                        <m:ctrlPr>
                          <a:rPr lang="en-US" sz="6000" i="1">
                            <a:latin typeface="Cambria Math" panose="02040503050406030204" pitchFamily="18" charset="0"/>
                            <a:ea typeface="DengXian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6000" i="1">
                            <a:latin typeface="Cambria Math" panose="02040503050406030204" pitchFamily="18" charset="0"/>
                            <a:ea typeface="DengXian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6000" i="1">
                            <a:latin typeface="Cambria Math" panose="02040503050406030204" pitchFamily="18" charset="0"/>
                            <a:ea typeface="DengXian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6000" i="1">
                            <a:latin typeface="Cambria Math" panose="02040503050406030204" pitchFamily="18" charset="0"/>
                            <a:ea typeface="DengXian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US" sz="6000" i="1">
                        <a:latin typeface="Cambria Math" panose="02040503050406030204" pitchFamily="18" charset="0"/>
                        <a:ea typeface="DengXian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6000" i="1">
                            <a:latin typeface="Cambria Math" panose="02040503050406030204" pitchFamily="18" charset="0"/>
                            <a:ea typeface="DengXian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6000" i="1">
                                <a:latin typeface="Cambria Math" panose="02040503050406030204" pitchFamily="18" charset="0"/>
                                <a:ea typeface="DengXian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  <a:ea typeface="DengXian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sz="6000" i="1">
                                <a:latin typeface="Cambria Math" panose="02040503050406030204" pitchFamily="18" charset="0"/>
                                <a:ea typeface="DengXian"/>
                                <a:cs typeface="Times New Roman" panose="02020603050405020304" pitchFamily="18" charset="0"/>
                              </a:rPr>
                              <m:t>∩</m:t>
                            </m:r>
                            <m:r>
                              <a:rPr lang="en-US" sz="6000" b="0" i="1" smtClean="0">
                                <a:latin typeface="Cambria Math" panose="02040503050406030204" pitchFamily="18" charset="0"/>
                                <a:ea typeface="DengXian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6000" i="1">
                                <a:latin typeface="Cambria Math" panose="02040503050406030204" pitchFamily="18" charset="0"/>
                                <a:ea typeface="DengXian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  <a:ea typeface="DengXian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sz="6000" i="1">
                                <a:latin typeface="Cambria Math" panose="02040503050406030204" pitchFamily="18" charset="0"/>
                                <a:ea typeface="DengXian"/>
                                <a:cs typeface="Times New Roman" panose="02020603050405020304" pitchFamily="18" charset="0"/>
                              </a:rPr>
                              <m:t>∪</m:t>
                            </m:r>
                            <m:r>
                              <a:rPr lang="en-US" sz="6000" i="1">
                                <a:latin typeface="Cambria Math" panose="02040503050406030204" pitchFamily="18" charset="0"/>
                                <a:ea typeface="DengXian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6000" dirty="0">
                    <a:latin typeface="Times New Roman" panose="02020603050405020304" pitchFamily="18" charset="0"/>
                    <a:ea typeface="DengXian"/>
                    <a:cs typeface="Times New Roman" panose="02020603050405020304" pitchFamily="18" charset="0"/>
                  </a:rPr>
                  <a:t>   </a:t>
                </a:r>
                <a:endParaRPr lang="en-US" sz="6000" dirty="0">
                  <a:latin typeface="Calibri" panose="020F0502020204030204" pitchFamily="34" charset="0"/>
                  <a:ea typeface="DengXian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700" y="2090775"/>
                <a:ext cx="5791200" cy="21010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342635" y="212178"/>
            <a:ext cx="8610600" cy="1717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sz="8000" b="1" dirty="0" err="1">
                <a:latin typeface="Times New Roman Bold"/>
                <a:ea typeface="Times New Roman Bold"/>
                <a:cs typeface="Times New Roman Bold"/>
              </a:rPr>
              <a:t>Jaccard</a:t>
            </a:r>
            <a:r>
              <a:rPr lang="en-US" sz="8000" b="1" dirty="0">
                <a:latin typeface="Times New Roman Bold"/>
                <a:ea typeface="Times New Roman Bold"/>
                <a:cs typeface="Times New Roman Bold"/>
              </a:rPr>
              <a:t> Similarity</a:t>
            </a:r>
          </a:p>
        </p:txBody>
      </p:sp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134600" y="5028128"/>
            <a:ext cx="76200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consistency between the feature subsets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stability score → feature selection is consistent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score → unstable, unreliable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64668" y="7658100"/>
            <a:ext cx="66241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800" dirty="0">
                <a:solidFill>
                  <a:srgbClr val="05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10: </a:t>
            </a:r>
            <a:r>
              <a:rPr lang="en-US" sz="2800" dirty="0" err="1">
                <a:solidFill>
                  <a:srgbClr val="05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Jaccard</a:t>
            </a:r>
            <a:r>
              <a:rPr lang="en-US" sz="2800" dirty="0">
                <a:solidFill>
                  <a:srgbClr val="050A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Similarity Venn diagram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82450" y="192383"/>
            <a:ext cx="8941287" cy="148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8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4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XGBoost</a:t>
            </a:r>
            <a:r>
              <a:rPr lang="en-US" sz="8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8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29000" y="9251315"/>
            <a:ext cx="105918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11: Schematic view of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[11]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07748F-8F8B-6C79-4621-AF8EB0DFD4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9767" y="9285247"/>
            <a:ext cx="1596509" cy="685415"/>
          </a:xfrm>
        </p:spPr>
        <p:txBody>
          <a:bodyPr/>
          <a:lstStyle/>
          <a:p>
            <a:fld id="{5CA043D9-BD23-4176-A197-8992AEDC25E1}" type="datetime1">
              <a:rPr lang="en-US" sz="1800" smtClean="0">
                <a:solidFill>
                  <a:schemeClr val="tx1"/>
                </a:solidFill>
              </a:rPr>
              <a:t>12/17/2025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4F6FE-A8E5-471B-FAC9-030015B3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82163" y="9285247"/>
            <a:ext cx="1025009" cy="547688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https://www.researchgate.net/publication/382911099/figure/fig3/AS:11431281270129805@1722964382964/Schematic-diagram-of-the-XGBoost-regression-tree-model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485" y="1654952"/>
            <a:ext cx="9326314" cy="73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4648200" y="6667500"/>
            <a:ext cx="1676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209595" y="6591300"/>
            <a:ext cx="1676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43800" y="6667500"/>
            <a:ext cx="1676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5358" y="8425056"/>
            <a:ext cx="356644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691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07415" y="724203"/>
            <a:ext cx="14600871" cy="148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54"/>
              </a:lnSpc>
              <a:spcBef>
                <a:spcPct val="0"/>
              </a:spcBef>
            </a:pPr>
            <a:r>
              <a:rPr lang="en-US" sz="8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Hyperparameter </a:t>
            </a:r>
            <a:r>
              <a:rPr lang="en-US" sz="8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91752" y="3363604"/>
            <a:ext cx="13882811" cy="3883307"/>
            <a:chOff x="0" y="-190500"/>
            <a:chExt cx="18510414" cy="5177742"/>
          </a:xfrm>
        </p:grpSpPr>
        <p:sp>
          <p:nvSpPr>
            <p:cNvPr id="7" name="Freeform 7"/>
            <p:cNvSpPr/>
            <p:nvPr/>
          </p:nvSpPr>
          <p:spPr>
            <a:xfrm>
              <a:off x="0" y="1073233"/>
              <a:ext cx="7396265" cy="3106431"/>
            </a:xfrm>
            <a:custGeom>
              <a:avLst/>
              <a:gdLst/>
              <a:ahLst/>
              <a:cxnLst/>
              <a:rect l="l" t="t" r="r" b="b"/>
              <a:pathLst>
                <a:path w="7396265" h="3106431">
                  <a:moveTo>
                    <a:pt x="0" y="0"/>
                  </a:moveTo>
                  <a:lnTo>
                    <a:pt x="7396265" y="0"/>
                  </a:lnTo>
                  <a:lnTo>
                    <a:pt x="7396265" y="3106431"/>
                  </a:lnTo>
                  <a:lnTo>
                    <a:pt x="0" y="3106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7967798" y="-190500"/>
              <a:ext cx="10542616" cy="51777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835145" lvl="1" indent="-917572" algn="l">
                <a:lnSpc>
                  <a:spcPts val="10454"/>
                </a:lnSpc>
                <a:buFont typeface="Arial"/>
                <a:buChar char="•"/>
              </a:pPr>
              <a:r>
                <a:rPr lang="en-US" sz="6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max_depth</a:t>
              </a:r>
              <a:r>
                <a:rPr lang="en-US" sz="6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=7</a:t>
              </a:r>
            </a:p>
            <a:p>
              <a:pPr marL="1835145" lvl="1" indent="-917572" algn="l">
                <a:lnSpc>
                  <a:spcPts val="10454"/>
                </a:lnSpc>
                <a:buFont typeface="Arial"/>
                <a:buChar char="•"/>
              </a:pPr>
              <a:r>
                <a:rPr lang="en-US" sz="6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learning_rate</a:t>
              </a:r>
              <a:r>
                <a:rPr lang="en-US" sz="6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=0.07</a:t>
              </a:r>
            </a:p>
            <a:p>
              <a:pPr marL="1835145" lvl="1" indent="-917572" algn="l">
                <a:lnSpc>
                  <a:spcPts val="10454"/>
                </a:lnSpc>
                <a:buFont typeface="Arial"/>
                <a:buChar char="•"/>
              </a:pPr>
              <a:r>
                <a:rPr lang="en-US" sz="6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n_estimators</a:t>
              </a:r>
              <a:r>
                <a:rPr lang="en-US" sz="6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=498</a:t>
              </a:r>
            </a:p>
          </p:txBody>
        </p:sp>
        <p:sp>
          <p:nvSpPr>
            <p:cNvPr id="9" name="AutoShape 9"/>
            <p:cNvSpPr/>
            <p:nvPr/>
          </p:nvSpPr>
          <p:spPr>
            <a:xfrm flipV="1">
              <a:off x="7168441" y="2459439"/>
              <a:ext cx="182571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7073070" y="3009784"/>
              <a:ext cx="2012327" cy="10426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7168441" y="861895"/>
              <a:ext cx="1916956" cy="138620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F27A916-DC74-6FA7-E226-F26A4AEC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064" y="9335888"/>
            <a:ext cx="1540736" cy="547688"/>
          </a:xfrm>
        </p:spPr>
        <p:txBody>
          <a:bodyPr/>
          <a:lstStyle/>
          <a:p>
            <a:pPr algn="ctr"/>
            <a:fld id="{21D5F7BC-2CBD-4B38-8DAF-99813CB8AF80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30157D-CAF7-1BB1-086B-1200B466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840200" y="9335888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28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3238500" y="7871205"/>
            <a:ext cx="101346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depth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avoid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learning rate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stable learning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number of trees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progressively correct prediction errors.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10000" y="3619500"/>
            <a:ext cx="10693773" cy="161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50A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 and Discussion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8229120-8BBF-1A71-7323-2152F6D4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3000" y="9062044"/>
            <a:ext cx="1578366" cy="547688"/>
          </a:xfrm>
        </p:spPr>
        <p:txBody>
          <a:bodyPr/>
          <a:lstStyle/>
          <a:p>
            <a:pPr algn="ctr"/>
            <a:fld id="{1D1E6994-3F9C-483A-999A-4B90ABB1E692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26A0E-F7DE-D7D5-7D18-F3C19748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78766" y="9062044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29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67255" y="239100"/>
            <a:ext cx="6753490" cy="139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lang="en-US" sz="8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Training</a:t>
            </a:r>
          </a:p>
        </p:txBody>
      </p:sp>
      <p:sp>
        <p:nvSpPr>
          <p:cNvPr id="7" name="Date Placeholder 7">
            <a:extLst>
              <a:ext uri="{FF2B5EF4-FFF2-40B4-BE49-F238E27FC236}">
                <a16:creationId xmlns:a16="http://schemas.microsoft.com/office/drawing/2014/main" id="{A803AB95-3012-9412-DBF3-934B2D7E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6800" y="9361903"/>
            <a:ext cx="1719425" cy="555594"/>
          </a:xfrm>
        </p:spPr>
        <p:txBody>
          <a:bodyPr/>
          <a:lstStyle/>
          <a:p>
            <a:pPr algn="ctr"/>
            <a:fld id="{8C407E92-F379-479E-B238-F3156EF53458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CB289DB9-DCA1-E796-6C92-436B8A7E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87800" y="9369809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30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547450"/>
            <a:ext cx="11582400" cy="7514880"/>
          </a:xfrm>
          <a:prstGeom prst="rect">
            <a:avLst/>
          </a:prstGeom>
        </p:spPr>
      </p:pic>
      <p:sp>
        <p:nvSpPr>
          <p:cNvPr id="84" name="TextBox 5"/>
          <p:cNvSpPr txBox="1"/>
          <p:nvPr/>
        </p:nvSpPr>
        <p:spPr>
          <a:xfrm>
            <a:off x="4419600" y="9274730"/>
            <a:ext cx="1022567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12: Visualization of model training process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06474"/>
            <a:ext cx="11190455" cy="7154159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12538" y="346709"/>
            <a:ext cx="11644532" cy="139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 </a:t>
            </a:r>
            <a:r>
              <a:rPr lang="en-US" sz="8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Outcome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31917" y="9202692"/>
            <a:ext cx="88057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13: Importance of selected features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8528872-550B-8A74-29C3-A722F284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0" y="9335888"/>
            <a:ext cx="1524000" cy="547688"/>
          </a:xfrm>
        </p:spPr>
        <p:txBody>
          <a:bodyPr/>
          <a:lstStyle/>
          <a:p>
            <a:pPr algn="ctr"/>
            <a:fld id="{2EAB6634-5105-4D04-B2D9-A795FBBCB7DA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ECD0E64-DADC-E3A2-1814-0A9BDAAC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64000" y="9317819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31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110954" y="3198396"/>
            <a:ext cx="49484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 Medium" panose="020B0604020202020204" charset="0"/>
              </a:rPr>
              <a:t>5 sets of feature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 Medium" panose="020B0604020202020204" charset="0"/>
              </a:rPr>
              <a:t>20 features from union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02676" y="5871844"/>
            <a:ext cx="5025735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HE4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Epididymis Protein 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Neutrophil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ratio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Carcinoembryonic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antigen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295400" y="9486900"/>
            <a:ext cx="1536700" cy="470084"/>
          </a:xfrm>
        </p:spPr>
        <p:txBody>
          <a:bodyPr/>
          <a:lstStyle/>
          <a:p>
            <a:fld id="{F93B53D6-FAF1-46B2-AC75-D16F6D342A29}" type="datetime1">
              <a:rPr lang="en-US" sz="2000" smtClean="0">
                <a:solidFill>
                  <a:schemeClr val="tx1"/>
                </a:solidFill>
              </a:rPr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905961" y="9532128"/>
            <a:ext cx="1025009" cy="547688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32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27107" y="3795074"/>
          <a:ext cx="15316198" cy="52289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7489">
                  <a:extLst>
                    <a:ext uri="{9D8B030D-6E8A-4147-A177-3AD203B41FA5}">
                      <a16:colId xmlns:a16="http://schemas.microsoft.com/office/drawing/2014/main" val="248184943"/>
                    </a:ext>
                  </a:extLst>
                </a:gridCol>
                <a:gridCol w="2014040">
                  <a:extLst>
                    <a:ext uri="{9D8B030D-6E8A-4147-A177-3AD203B41FA5}">
                      <a16:colId xmlns:a16="http://schemas.microsoft.com/office/drawing/2014/main" val="4118926059"/>
                    </a:ext>
                  </a:extLst>
                </a:gridCol>
                <a:gridCol w="2014040">
                  <a:extLst>
                    <a:ext uri="{9D8B030D-6E8A-4147-A177-3AD203B41FA5}">
                      <a16:colId xmlns:a16="http://schemas.microsoft.com/office/drawing/2014/main" val="1217085264"/>
                    </a:ext>
                  </a:extLst>
                </a:gridCol>
                <a:gridCol w="1983552">
                  <a:extLst>
                    <a:ext uri="{9D8B030D-6E8A-4147-A177-3AD203B41FA5}">
                      <a16:colId xmlns:a16="http://schemas.microsoft.com/office/drawing/2014/main" val="187455981"/>
                    </a:ext>
                  </a:extLst>
                </a:gridCol>
                <a:gridCol w="1983552">
                  <a:extLst>
                    <a:ext uri="{9D8B030D-6E8A-4147-A177-3AD203B41FA5}">
                      <a16:colId xmlns:a16="http://schemas.microsoft.com/office/drawing/2014/main" val="2547525109"/>
                    </a:ext>
                  </a:extLst>
                </a:gridCol>
                <a:gridCol w="1759957">
                  <a:extLst>
                    <a:ext uri="{9D8B030D-6E8A-4147-A177-3AD203B41FA5}">
                      <a16:colId xmlns:a16="http://schemas.microsoft.com/office/drawing/2014/main" val="3591788264"/>
                    </a:ext>
                  </a:extLst>
                </a:gridCol>
                <a:gridCol w="1673568">
                  <a:extLst>
                    <a:ext uri="{9D8B030D-6E8A-4147-A177-3AD203B41FA5}">
                      <a16:colId xmlns:a16="http://schemas.microsoft.com/office/drawing/2014/main" val="2578317467"/>
                    </a:ext>
                  </a:extLst>
                </a:gridCol>
              </a:tblGrid>
              <a:tr h="16673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Hyperparameter</a:t>
                      </a:r>
                      <a:endParaRPr lang="en-US" sz="2900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900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900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F1</a:t>
                      </a:r>
                      <a:endParaRPr lang="en-US" sz="2900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900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900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AUC</a:t>
                      </a:r>
                      <a:endParaRPr lang="en-US" sz="2900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143525"/>
                  </a:ext>
                </a:extLst>
              </a:tr>
              <a:tr h="1667353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Untuned</a:t>
                      </a:r>
                      <a:endParaRPr lang="en-US" sz="2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Random </a:t>
                      </a:r>
                      <a:r>
                        <a:rPr lang="en-US" sz="29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Forest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0.8969</a:t>
                      </a:r>
                      <a:endParaRPr lang="en-US" sz="2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0.8964</a:t>
                      </a:r>
                      <a:endParaRPr lang="en-US" sz="2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0.9028</a:t>
                      </a:r>
                      <a:endParaRPr lang="en-US" sz="2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0.8969</a:t>
                      </a:r>
                      <a:endParaRPr lang="en-US" sz="2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9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0.9458</a:t>
                      </a:r>
                      <a:endParaRPr lang="en-US" sz="2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/>
                </a:tc>
                <a:extLst>
                  <a:ext uri="{0D108BD9-81ED-4DB2-BD59-A6C34878D82A}">
                    <a16:rowId xmlns:a16="http://schemas.microsoft.com/office/drawing/2014/main" val="3780195064"/>
                  </a:ext>
                </a:extLst>
              </a:tr>
              <a:tr h="786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CatBoost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0.8711</a:t>
                      </a:r>
                      <a:endParaRPr lang="en-US" sz="2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0.8701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0.8813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0.8711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0.9595</a:t>
                      </a:r>
                    </a:p>
                  </a:txBody>
                  <a:tcPr marL="82099" marR="82099" marT="0" marB="0"/>
                </a:tc>
                <a:extLst>
                  <a:ext uri="{0D108BD9-81ED-4DB2-BD59-A6C34878D82A}">
                    <a16:rowId xmlns:a16="http://schemas.microsoft.com/office/drawing/2014/main" val="4175035798"/>
                  </a:ext>
                </a:extLst>
              </a:tr>
              <a:tr h="786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0.8969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0.8965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0.9009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0.8969</a:t>
                      </a:r>
                    </a:p>
                  </a:txBody>
                  <a:tcPr marL="82099" marR="8209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0.9485</a:t>
                      </a:r>
                    </a:p>
                  </a:txBody>
                  <a:tcPr marL="82099" marR="82099" marT="0" marB="0"/>
                </a:tc>
                <a:extLst>
                  <a:ext uri="{0D108BD9-81ED-4DB2-BD59-A6C34878D82A}">
                    <a16:rowId xmlns:a16="http://schemas.microsoft.com/office/drawing/2014/main" val="220728038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8470" y="677269"/>
            <a:ext cx="16433473" cy="13106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9471"/>
              </a:lnSpc>
              <a:spcBef>
                <a:spcPct val="0"/>
              </a:spcBef>
            </a:pPr>
            <a:r>
              <a:rPr lang="en-US" sz="6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</a:t>
            </a:r>
            <a:r>
              <a:rPr lang="en-US" sz="6600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Comparison of Different Models</a:t>
            </a:r>
            <a:endParaRPr lang="en-US" sz="6600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5803" y="2191885"/>
            <a:ext cx="1517409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Table 1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Model performance comparison between three different models</a:t>
            </a:r>
            <a:endParaRPr lang="en-US" sz="4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914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379231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42354" y="86700"/>
            <a:ext cx="13477433" cy="111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71"/>
              </a:lnSpc>
              <a:spcBef>
                <a:spcPct val="0"/>
              </a:spcBef>
            </a:pPr>
            <a:r>
              <a:rPr lang="en-US" sz="6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</a:t>
            </a:r>
            <a:r>
              <a:rPr lang="en-US" sz="6600" b="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Comparison of </a:t>
            </a:r>
            <a:r>
              <a:rPr lang="en-US" sz="6600" b="1" dirty="0" err="1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XGBoost</a:t>
            </a:r>
            <a:endParaRPr lang="en-US" sz="66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45042" y="1740738"/>
            <a:ext cx="16069202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Table 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2: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between different variants of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68BF64-2DB9-500B-CF85-D38C6D74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BF3C9-E419-4810-A901-C083E52FABED}" type="datetime1">
              <a:rPr lang="en-US" smtClean="0"/>
              <a:t>12/17/2025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7FA85-5B5B-A72F-AE4C-FB1303BF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03267" y="3337900"/>
          <a:ext cx="17355605" cy="6565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8780">
                  <a:extLst>
                    <a:ext uri="{9D8B030D-6E8A-4147-A177-3AD203B41FA5}">
                      <a16:colId xmlns:a16="http://schemas.microsoft.com/office/drawing/2014/main" val="4135789556"/>
                    </a:ext>
                  </a:extLst>
                </a:gridCol>
                <a:gridCol w="3268780">
                  <a:extLst>
                    <a:ext uri="{9D8B030D-6E8A-4147-A177-3AD203B41FA5}">
                      <a16:colId xmlns:a16="http://schemas.microsoft.com/office/drawing/2014/main" val="1763059474"/>
                    </a:ext>
                  </a:extLst>
                </a:gridCol>
                <a:gridCol w="1912686">
                  <a:extLst>
                    <a:ext uri="{9D8B030D-6E8A-4147-A177-3AD203B41FA5}">
                      <a16:colId xmlns:a16="http://schemas.microsoft.com/office/drawing/2014/main" val="3696273863"/>
                    </a:ext>
                  </a:extLst>
                </a:gridCol>
                <a:gridCol w="1912686">
                  <a:extLst>
                    <a:ext uri="{9D8B030D-6E8A-4147-A177-3AD203B41FA5}">
                      <a16:colId xmlns:a16="http://schemas.microsoft.com/office/drawing/2014/main" val="1424497612"/>
                    </a:ext>
                  </a:extLst>
                </a:gridCol>
                <a:gridCol w="1874079">
                  <a:extLst>
                    <a:ext uri="{9D8B030D-6E8A-4147-A177-3AD203B41FA5}">
                      <a16:colId xmlns:a16="http://schemas.microsoft.com/office/drawing/2014/main" val="942867910"/>
                    </a:ext>
                  </a:extLst>
                </a:gridCol>
                <a:gridCol w="1874079">
                  <a:extLst>
                    <a:ext uri="{9D8B030D-6E8A-4147-A177-3AD203B41FA5}">
                      <a16:colId xmlns:a16="http://schemas.microsoft.com/office/drawing/2014/main" val="3925014158"/>
                    </a:ext>
                  </a:extLst>
                </a:gridCol>
                <a:gridCol w="1471916">
                  <a:extLst>
                    <a:ext uri="{9D8B030D-6E8A-4147-A177-3AD203B41FA5}">
                      <a16:colId xmlns:a16="http://schemas.microsoft.com/office/drawing/2014/main" val="3906910081"/>
                    </a:ext>
                  </a:extLst>
                </a:gridCol>
                <a:gridCol w="1772599">
                  <a:extLst>
                    <a:ext uri="{9D8B030D-6E8A-4147-A177-3AD203B41FA5}">
                      <a16:colId xmlns:a16="http://schemas.microsoft.com/office/drawing/2014/main" val="2446330081"/>
                    </a:ext>
                  </a:extLst>
                </a:gridCol>
              </a:tblGrid>
              <a:tr h="13131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29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040628"/>
                  </a:ext>
                </a:extLst>
              </a:tr>
              <a:tr h="131315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</a:t>
                      </a:r>
                      <a:endParaRPr lang="en-US" sz="2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Untuned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0.8969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0.8965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0.9009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0.8969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0.9485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extLst>
                  <a:ext uri="{0D108BD9-81ED-4DB2-BD59-A6C34878D82A}">
                    <a16:rowId xmlns:a16="http://schemas.microsoft.com/office/drawing/2014/main" val="2183574892"/>
                  </a:ext>
                </a:extLst>
              </a:tr>
              <a:tr h="1313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Tuned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0.9027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0.9025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0.9049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0.9027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0.9544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extLst>
                  <a:ext uri="{0D108BD9-81ED-4DB2-BD59-A6C34878D82A}">
                    <a16:rowId xmlns:a16="http://schemas.microsoft.com/office/drawing/2014/main" val="3614728115"/>
                  </a:ext>
                </a:extLst>
              </a:tr>
              <a:tr h="131315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</a:t>
                      </a:r>
                      <a:endParaRPr lang="en-US" sz="2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Untuned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0.8769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0.8765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0.8801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0.8769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0.9528</a:t>
                      </a:r>
                      <a:endParaRPr lang="en-US" sz="29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extLst>
                  <a:ext uri="{0D108BD9-81ED-4DB2-BD59-A6C34878D82A}">
                    <a16:rowId xmlns:a16="http://schemas.microsoft.com/office/drawing/2014/main" val="4018727102"/>
                  </a:ext>
                </a:extLst>
              </a:tr>
              <a:tr h="1313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Tuned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0.8969</a:t>
                      </a:r>
                      <a:endParaRPr lang="en-US" sz="2900" b="1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0.8967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0.9004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0.8969</a:t>
                      </a:r>
                      <a:endParaRPr lang="en-US" sz="29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0.9536</a:t>
                      </a:r>
                      <a:endParaRPr lang="en-US" sz="2900" b="1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60148" marR="160148" marT="0" marB="0"/>
                </a:tc>
                <a:extLst>
                  <a:ext uri="{0D108BD9-81ED-4DB2-BD59-A6C34878D82A}">
                    <a16:rowId xmlns:a16="http://schemas.microsoft.com/office/drawing/2014/main" val="657341907"/>
                  </a:ext>
                </a:extLst>
              </a:tr>
            </a:tbl>
          </a:graphicData>
        </a:graphic>
      </p:graphicFrame>
      <p:sp>
        <p:nvSpPr>
          <p:cNvPr id="9" name="Date Placeholder 7">
            <a:extLst>
              <a:ext uri="{FF2B5EF4-FFF2-40B4-BE49-F238E27FC236}">
                <a16:creationId xmlns:a16="http://schemas.microsoft.com/office/drawing/2014/main" id="{A803AB95-3012-9412-DBF3-934B2D7EED18}"/>
              </a:ext>
            </a:extLst>
          </p:cNvPr>
          <p:cNvSpPr txBox="1">
            <a:spLocks/>
          </p:cNvSpPr>
          <p:nvPr/>
        </p:nvSpPr>
        <p:spPr>
          <a:xfrm>
            <a:off x="15694819" y="9348056"/>
            <a:ext cx="1719425" cy="5555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4A6011-925B-48C6-8DEA-33E7F70B9EC9}" type="datetime1">
              <a:rPr lang="en-US" sz="1400" smtClean="0">
                <a:solidFill>
                  <a:schemeClr val="tx1"/>
                </a:solidFill>
              </a:rPr>
              <a:pPr/>
              <a:t>12/17/2025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2"/>
          <p:cNvSpPr txBox="1">
            <a:spLocks/>
          </p:cNvSpPr>
          <p:nvPr/>
        </p:nvSpPr>
        <p:spPr>
          <a:xfrm>
            <a:off x="16243673" y="9760201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tx1"/>
                </a:solidFill>
              </a:rPr>
              <a:t>33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075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93737" y="331137"/>
            <a:ext cx="14129632" cy="139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of </a:t>
            </a:r>
            <a:r>
              <a:rPr lang="en-US" sz="8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Best Performing 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3871" y="8820060"/>
            <a:ext cx="826900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14: Confusion matrix of </a:t>
            </a: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27589" y="8733660"/>
            <a:ext cx="843425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15: ROC of modified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3769948-DF4F-065B-4D38-FA7516F050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692690" y="9610326"/>
            <a:ext cx="1600200" cy="547688"/>
          </a:xfrm>
        </p:spPr>
        <p:txBody>
          <a:bodyPr/>
          <a:lstStyle/>
          <a:p>
            <a:fld id="{412DA6BF-A343-4FAF-8093-0180655FD2BA}" type="datetime1">
              <a:rPr lang="en-US" sz="2000" smtClean="0">
                <a:solidFill>
                  <a:schemeClr val="tx1"/>
                </a:solidFill>
              </a:rPr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33F21E-8A0A-13D4-6FCA-D90ACC69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16400" y="9361003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34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003" y="2204536"/>
            <a:ext cx="8757042" cy="568660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7" y="2204536"/>
            <a:ext cx="6994433" cy="621441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73471" y="-34845"/>
            <a:ext cx="14541059" cy="13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with </a:t>
            </a:r>
            <a:r>
              <a:rPr lang="en-US" sz="8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Previous Works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33600" y="1437046"/>
            <a:ext cx="1154872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2: Comparison with </a:t>
            </a:r>
            <a:r>
              <a:rPr lang="en-US" sz="3999" dirty="0">
                <a:latin typeface="Times New Roman"/>
                <a:ea typeface="Times New Roman"/>
                <a:cs typeface="Times New Roman"/>
                <a:sym typeface="Times New Roman"/>
              </a:rPr>
              <a:t>the related 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works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45093-9F65-E907-F48F-B36F9D677A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21364" y="9453505"/>
            <a:ext cx="1624472" cy="547688"/>
          </a:xfrm>
        </p:spPr>
        <p:txBody>
          <a:bodyPr/>
          <a:lstStyle/>
          <a:p>
            <a:pPr algn="ctr"/>
            <a:fld id="{89A75FFB-FDA5-4B3F-9450-888B8EEE1335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1D2ECE-583D-4B93-52EE-344C2621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64000" y="9458210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35</a:t>
            </a:fld>
            <a:endParaRPr 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311753"/>
              </p:ext>
            </p:extLst>
          </p:nvPr>
        </p:nvGraphicFramePr>
        <p:xfrm>
          <a:off x="1344190" y="2274661"/>
          <a:ext cx="16199001" cy="67964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4559">
                  <a:extLst>
                    <a:ext uri="{9D8B030D-6E8A-4147-A177-3AD203B41FA5}">
                      <a16:colId xmlns:a16="http://schemas.microsoft.com/office/drawing/2014/main" val="778162298"/>
                    </a:ext>
                  </a:extLst>
                </a:gridCol>
                <a:gridCol w="1440783">
                  <a:extLst>
                    <a:ext uri="{9D8B030D-6E8A-4147-A177-3AD203B41FA5}">
                      <a16:colId xmlns:a16="http://schemas.microsoft.com/office/drawing/2014/main" val="4288985416"/>
                    </a:ext>
                  </a:extLst>
                </a:gridCol>
                <a:gridCol w="3290782">
                  <a:extLst>
                    <a:ext uri="{9D8B030D-6E8A-4147-A177-3AD203B41FA5}">
                      <a16:colId xmlns:a16="http://schemas.microsoft.com/office/drawing/2014/main" val="439845015"/>
                    </a:ext>
                  </a:extLst>
                </a:gridCol>
                <a:gridCol w="2411829">
                  <a:extLst>
                    <a:ext uri="{9D8B030D-6E8A-4147-A177-3AD203B41FA5}">
                      <a16:colId xmlns:a16="http://schemas.microsoft.com/office/drawing/2014/main" val="4104855455"/>
                    </a:ext>
                  </a:extLst>
                </a:gridCol>
                <a:gridCol w="1662442">
                  <a:extLst>
                    <a:ext uri="{9D8B030D-6E8A-4147-A177-3AD203B41FA5}">
                      <a16:colId xmlns:a16="http://schemas.microsoft.com/office/drawing/2014/main" val="2201728078"/>
                    </a:ext>
                  </a:extLst>
                </a:gridCol>
                <a:gridCol w="1278801">
                  <a:extLst>
                    <a:ext uri="{9D8B030D-6E8A-4147-A177-3AD203B41FA5}">
                      <a16:colId xmlns:a16="http://schemas.microsoft.com/office/drawing/2014/main" val="3371694659"/>
                    </a:ext>
                  </a:extLst>
                </a:gridCol>
                <a:gridCol w="1662442">
                  <a:extLst>
                    <a:ext uri="{9D8B030D-6E8A-4147-A177-3AD203B41FA5}">
                      <a16:colId xmlns:a16="http://schemas.microsoft.com/office/drawing/2014/main" val="2678134788"/>
                    </a:ext>
                  </a:extLst>
                </a:gridCol>
                <a:gridCol w="1323000">
                  <a:extLst>
                    <a:ext uri="{9D8B030D-6E8A-4147-A177-3AD203B41FA5}">
                      <a16:colId xmlns:a16="http://schemas.microsoft.com/office/drawing/2014/main" val="1971688847"/>
                    </a:ext>
                  </a:extLst>
                </a:gridCol>
                <a:gridCol w="1594363">
                  <a:extLst>
                    <a:ext uri="{9D8B030D-6E8A-4147-A177-3AD203B41FA5}">
                      <a16:colId xmlns:a16="http://schemas.microsoft.com/office/drawing/2014/main" val="1919934400"/>
                    </a:ext>
                  </a:extLst>
                </a:gridCol>
              </a:tblGrid>
              <a:tr h="18902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Feature Selection/Importance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Classifier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659630"/>
                  </a:ext>
                </a:extLst>
              </a:tr>
              <a:tr h="902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[12]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Boruta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0.8952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0.8945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0.9073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0.8952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0.9502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extLst>
                  <a:ext uri="{0D108BD9-81ED-4DB2-BD59-A6C34878D82A}">
                    <a16:rowId xmlns:a16="http://schemas.microsoft.com/office/drawing/2014/main" val="96204878"/>
                  </a:ext>
                </a:extLst>
              </a:tr>
              <a:tr h="14101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[13]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gain indices and the Gini index.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0.8675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0.8801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0.9160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0.9250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extLst>
                  <a:ext uri="{0D108BD9-81ED-4DB2-BD59-A6C34878D82A}">
                    <a16:rowId xmlns:a16="http://schemas.microsoft.com/office/drawing/2014/main" val="532400649"/>
                  </a:ext>
                </a:extLst>
              </a:tr>
              <a:tr h="14176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[14]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Student’s t-test and the Mann–Whitney U-test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RF, GBM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extLst>
                  <a:ext uri="{0D108BD9-81ED-4DB2-BD59-A6C34878D82A}">
                    <a16:rowId xmlns:a16="http://schemas.microsoft.com/office/drawing/2014/main" val="2291834928"/>
                  </a:ext>
                </a:extLst>
              </a:tr>
              <a:tr h="11754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DengXian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 marL="127887" marR="127887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Whale Optimization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0.8969</a:t>
                      </a:r>
                      <a:endParaRPr lang="en-US" sz="2200" b="1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0.8967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0.9004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0.8969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0.9536</a:t>
                      </a:r>
                      <a:endParaRPr lang="en-US" sz="2200" b="1" dirty="0">
                        <a:effectLst/>
                        <a:latin typeface="Times New Roman" panose="02020603050405020304" pitchFamily="18" charset="0"/>
                        <a:ea typeface="DengXian"/>
                        <a:cs typeface="Times New Roman" panose="02020603050405020304" pitchFamily="18" charset="0"/>
                      </a:endParaRPr>
                    </a:p>
                  </a:txBody>
                  <a:tcPr marL="127887" marR="127887" marT="0" marB="0"/>
                </a:tc>
                <a:extLst>
                  <a:ext uri="{0D108BD9-81ED-4DB2-BD59-A6C34878D82A}">
                    <a16:rowId xmlns:a16="http://schemas.microsoft.com/office/drawing/2014/main" val="870927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46445" y="0"/>
            <a:ext cx="182255" cy="10287000"/>
            <a:chOff x="0" y="0"/>
            <a:chExt cx="243006" cy="13716000"/>
          </a:xfrm>
        </p:grpSpPr>
        <p:sp>
          <p:nvSpPr>
            <p:cNvPr id="4" name="AutoShape 4"/>
            <p:cNvSpPr/>
            <p:nvPr/>
          </p:nvSpPr>
          <p:spPr>
            <a:xfrm flipH="1" flipV="1">
              <a:off x="159603" y="9719255"/>
              <a:ext cx="7203" cy="3996607"/>
            </a:xfrm>
            <a:prstGeom prst="line">
              <a:avLst/>
            </a:prstGeom>
            <a:ln w="152400" cap="flat">
              <a:solidFill>
                <a:srgbClr val="00569E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AutoShape 5"/>
            <p:cNvSpPr/>
            <p:nvPr/>
          </p:nvSpPr>
          <p:spPr>
            <a:xfrm flipH="1" flipV="1">
              <a:off x="76200" y="137"/>
              <a:ext cx="7203" cy="3996607"/>
            </a:xfrm>
            <a:prstGeom prst="line">
              <a:avLst/>
            </a:prstGeom>
            <a:ln w="152400" cap="flat">
              <a:solidFill>
                <a:srgbClr val="00569E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301404" y="0"/>
            <a:ext cx="182255" cy="10287000"/>
            <a:chOff x="0" y="0"/>
            <a:chExt cx="243006" cy="13716000"/>
          </a:xfrm>
        </p:grpSpPr>
        <p:sp>
          <p:nvSpPr>
            <p:cNvPr id="7" name="AutoShape 7"/>
            <p:cNvSpPr/>
            <p:nvPr/>
          </p:nvSpPr>
          <p:spPr>
            <a:xfrm flipH="1" flipV="1">
              <a:off x="159603" y="9719255"/>
              <a:ext cx="7203" cy="3996607"/>
            </a:xfrm>
            <a:prstGeom prst="line">
              <a:avLst/>
            </a:prstGeom>
            <a:ln w="152400" cap="flat">
              <a:solidFill>
                <a:srgbClr val="00569E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 flipH="1" flipV="1">
              <a:off x="76200" y="137"/>
              <a:ext cx="7203" cy="3996607"/>
            </a:xfrm>
            <a:prstGeom prst="line">
              <a:avLst/>
            </a:prstGeom>
            <a:ln w="152400" cap="flat">
              <a:solidFill>
                <a:srgbClr val="00569E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3797113" y="3422672"/>
            <a:ext cx="10693773" cy="311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1" dirty="0">
                <a:solidFill>
                  <a:srgbClr val="050A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and Future Work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562263" y="5283636"/>
            <a:ext cx="926664" cy="926664"/>
            <a:chOff x="0" y="0"/>
            <a:chExt cx="1235551" cy="12355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5551" cy="1235551"/>
            </a:xfrm>
            <a:custGeom>
              <a:avLst/>
              <a:gdLst/>
              <a:ahLst/>
              <a:cxnLst/>
              <a:rect l="l" t="t" r="r" b="b"/>
              <a:pathLst>
                <a:path w="1235551" h="1235551">
                  <a:moveTo>
                    <a:pt x="0" y="0"/>
                  </a:moveTo>
                  <a:lnTo>
                    <a:pt x="1235551" y="0"/>
                  </a:lnTo>
                  <a:lnTo>
                    <a:pt x="1235551" y="1235551"/>
                  </a:lnTo>
                  <a:lnTo>
                    <a:pt x="0" y="1235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19956" y="119956"/>
              <a:ext cx="995638" cy="995638"/>
            </a:xfrm>
            <a:custGeom>
              <a:avLst/>
              <a:gdLst/>
              <a:ahLst/>
              <a:cxnLst/>
              <a:rect l="l" t="t" r="r" b="b"/>
              <a:pathLst>
                <a:path w="995638" h="995638">
                  <a:moveTo>
                    <a:pt x="0" y="0"/>
                  </a:moveTo>
                  <a:lnTo>
                    <a:pt x="995639" y="0"/>
                  </a:lnTo>
                  <a:lnTo>
                    <a:pt x="995639" y="995639"/>
                  </a:lnTo>
                  <a:lnTo>
                    <a:pt x="0" y="995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28607" y="328375"/>
              <a:ext cx="778338" cy="578800"/>
            </a:xfrm>
            <a:custGeom>
              <a:avLst/>
              <a:gdLst/>
              <a:ahLst/>
              <a:cxnLst/>
              <a:rect l="l" t="t" r="r" b="b"/>
              <a:pathLst>
                <a:path w="778338" h="578800">
                  <a:moveTo>
                    <a:pt x="0" y="0"/>
                  </a:moveTo>
                  <a:lnTo>
                    <a:pt x="778338" y="0"/>
                  </a:lnTo>
                  <a:lnTo>
                    <a:pt x="778338" y="578801"/>
                  </a:lnTo>
                  <a:lnTo>
                    <a:pt x="0" y="578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=""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11CC089-6860-566E-BB90-0543E4D4E6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0800" y="9062044"/>
            <a:ext cx="1765300" cy="547688"/>
          </a:xfrm>
        </p:spPr>
        <p:txBody>
          <a:bodyPr/>
          <a:lstStyle/>
          <a:p>
            <a:pPr algn="ctr"/>
            <a:fld id="{91230FD1-994B-4B70-97BD-A892C46515D1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82115F7-4812-B451-D2BC-1BBB2C63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87800" y="9062044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36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56020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01682" y="517631"/>
            <a:ext cx="6415153" cy="139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</a:t>
            </a:r>
            <a:r>
              <a:rPr lang="en-US" sz="8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Outcome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57400" y="2051265"/>
            <a:ext cx="14874283" cy="7566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879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Extracted important features for predicting Ovarian cancer using WOA</a:t>
            </a:r>
          </a:p>
          <a:p>
            <a:pPr marL="571500" indent="-571500">
              <a:lnSpc>
                <a:spcPts val="587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Ensured feature stability using feature frequency and </a:t>
            </a:r>
            <a:r>
              <a:rPr lang="en-US" sz="4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Jaccard</a:t>
            </a: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Similarity</a:t>
            </a:r>
          </a:p>
          <a:p>
            <a:pPr marL="571500" indent="-571500">
              <a:lnSpc>
                <a:spcPts val="5879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Opimized</a:t>
            </a: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lang="en-US" sz="4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classifier by </a:t>
            </a:r>
            <a:r>
              <a:rPr lang="en-US" sz="4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</a:t>
            </a: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tuning using WOA</a:t>
            </a:r>
          </a:p>
          <a:p>
            <a:pPr marL="571500" indent="-571500">
              <a:lnSpc>
                <a:spcPts val="5879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the accuracy of 90.27 % with all features and 89.69 % with selected features</a:t>
            </a:r>
          </a:p>
          <a:p>
            <a:pPr>
              <a:lnSpc>
                <a:spcPts val="5879"/>
              </a:lnSpc>
              <a:spcBef>
                <a:spcPct val="0"/>
              </a:spcBef>
            </a:pPr>
            <a:endParaRPr lang="en-US" sz="41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879"/>
              </a:lnSpc>
              <a:spcBef>
                <a:spcPct val="0"/>
              </a:spcBef>
            </a:pPr>
            <a:endParaRPr lang="en-US" sz="41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Date Placeholder 22">
            <a:extLst>
              <a:ext uri="{FF2B5EF4-FFF2-40B4-BE49-F238E27FC236}">
                <a16:creationId xmlns:a16="http://schemas.microsoft.com/office/drawing/2014/main" id="{E3739BE2-14C1-FC58-D0C5-E0179EB89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" y="9459563"/>
            <a:ext cx="1689100" cy="547688"/>
          </a:xfrm>
        </p:spPr>
        <p:txBody>
          <a:bodyPr/>
          <a:lstStyle/>
          <a:p>
            <a:pPr algn="ctr"/>
            <a:fld id="{58617D33-20C7-4F4A-BA44-716CC5C68685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23">
            <a:extLst>
              <a:ext uri="{FF2B5EF4-FFF2-40B4-BE49-F238E27FC236}">
                <a16:creationId xmlns:a16="http://schemas.microsoft.com/office/drawing/2014/main" id="{7EEDA54C-D149-CED2-AB17-B91C94D8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12588" y="9352666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37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5400" y="42304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01596" y="239100"/>
            <a:ext cx="6084808" cy="139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</a:t>
            </a:r>
            <a:r>
              <a:rPr lang="en-US" sz="8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orks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753824" y="2004415"/>
            <a:ext cx="12527597" cy="7110935"/>
            <a:chOff x="0" y="0"/>
            <a:chExt cx="3299449" cy="18728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99449" cy="1872839"/>
            </a:xfrm>
            <a:custGeom>
              <a:avLst/>
              <a:gdLst/>
              <a:ahLst/>
              <a:cxnLst/>
              <a:rect l="l" t="t" r="r" b="b"/>
              <a:pathLst>
                <a:path w="3299449" h="1872839">
                  <a:moveTo>
                    <a:pt x="0" y="0"/>
                  </a:moveTo>
                  <a:lnTo>
                    <a:pt x="3299449" y="0"/>
                  </a:lnTo>
                  <a:lnTo>
                    <a:pt x="3299449" y="1872839"/>
                  </a:lnTo>
                  <a:lnTo>
                    <a:pt x="0" y="1872839"/>
                  </a:lnTo>
                  <a:close/>
                </a:path>
              </a:pathLst>
            </a:custGeom>
            <a:solidFill>
              <a:srgbClr val="E5E5E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299449" cy="1920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546585" y="2266825"/>
            <a:ext cx="1111016" cy="1222818"/>
          </a:xfrm>
          <a:custGeom>
            <a:avLst/>
            <a:gdLst/>
            <a:ahLst/>
            <a:cxnLst/>
            <a:rect l="l" t="t" r="r" b="b"/>
            <a:pathLst>
              <a:path w="812800" h="813266">
                <a:moveTo>
                  <a:pt x="406400" y="0"/>
                </a:moveTo>
                <a:cubicBezTo>
                  <a:pt x="181951" y="0"/>
                  <a:pt x="0" y="182056"/>
                  <a:pt x="0" y="406633"/>
                </a:cubicBezTo>
                <a:cubicBezTo>
                  <a:pt x="0" y="631210"/>
                  <a:pt x="181951" y="813266"/>
                  <a:pt x="406400" y="813266"/>
                </a:cubicBezTo>
                <a:cubicBezTo>
                  <a:pt x="630849" y="813266"/>
                  <a:pt x="812800" y="631210"/>
                  <a:pt x="812800" y="406633"/>
                </a:cubicBezTo>
                <a:cubicBezTo>
                  <a:pt x="812800" y="182056"/>
                  <a:pt x="630849" y="0"/>
                  <a:pt x="40640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28575" cap="sq">
            <a:solidFill>
              <a:schemeClr val="accent1"/>
            </a:solidFill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4266473" y="2693819"/>
            <a:ext cx="11545755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model robustness by training it with other large datasets 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66473" y="6301263"/>
            <a:ext cx="11872779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optimizers such as Chaotic WOA,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Hybird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WOA-PSO can be used for enhanced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exploratiion</a:t>
            </a: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266473" y="4458300"/>
            <a:ext cx="11872779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 of other </a:t>
            </a: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clinical and molecular </a:t>
            </a:r>
            <a:r>
              <a:rPr lang="en-US" sz="3599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parameters </a:t>
            </a:r>
            <a:r>
              <a:rPr lang="en-US" sz="359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expression, DNA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mutations)</a:t>
            </a:r>
            <a:endParaRPr lang="en-US" sz="35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2463464" y="4373098"/>
            <a:ext cx="1148192" cy="1181956"/>
            <a:chOff x="0" y="-61937"/>
            <a:chExt cx="2148121" cy="2211289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148121" cy="2149352"/>
              <a:chOff x="0" y="0"/>
              <a:chExt cx="812800" cy="81326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32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3266">
                    <a:moveTo>
                      <a:pt x="406400" y="0"/>
                    </a:moveTo>
                    <a:cubicBezTo>
                      <a:pt x="181951" y="0"/>
                      <a:pt x="0" y="182056"/>
                      <a:pt x="0" y="406633"/>
                    </a:cubicBezTo>
                    <a:cubicBezTo>
                      <a:pt x="0" y="631210"/>
                      <a:pt x="181951" y="813266"/>
                      <a:pt x="406400" y="813266"/>
                    </a:cubicBezTo>
                    <a:cubicBezTo>
                      <a:pt x="630849" y="813266"/>
                      <a:pt x="812800" y="631210"/>
                      <a:pt x="812800" y="406633"/>
                    </a:cubicBezTo>
                    <a:cubicBezTo>
                      <a:pt x="812800" y="1820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28575" cap="sq">
                <a:solidFill>
                  <a:schemeClr val="accent1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28619"/>
                <a:ext cx="660400" cy="7084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5514" y="-61937"/>
              <a:ext cx="1884324" cy="2090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88"/>
                </a:lnSpc>
              </a:pPr>
              <a:r>
                <a:rPr lang="en-US" sz="6777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2481369" y="6322678"/>
            <a:ext cx="1126309" cy="1126954"/>
          </a:xfrm>
          <a:custGeom>
            <a:avLst/>
            <a:gdLst/>
            <a:ahLst/>
            <a:cxnLst/>
            <a:rect l="l" t="t" r="r" b="b"/>
            <a:pathLst>
              <a:path w="812800" h="813266">
                <a:moveTo>
                  <a:pt x="406400" y="0"/>
                </a:moveTo>
                <a:cubicBezTo>
                  <a:pt x="181951" y="0"/>
                  <a:pt x="0" y="182056"/>
                  <a:pt x="0" y="406633"/>
                </a:cubicBezTo>
                <a:cubicBezTo>
                  <a:pt x="0" y="631210"/>
                  <a:pt x="181951" y="813266"/>
                  <a:pt x="406400" y="813266"/>
                </a:cubicBezTo>
                <a:cubicBezTo>
                  <a:pt x="630849" y="813266"/>
                  <a:pt x="812800" y="631210"/>
                  <a:pt x="812800" y="406633"/>
                </a:cubicBezTo>
                <a:cubicBezTo>
                  <a:pt x="812800" y="182056"/>
                  <a:pt x="630849" y="0"/>
                  <a:pt x="40640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28575" cap="sq">
            <a:noFill/>
            <a:prstDash val="solid"/>
            <a:miter/>
          </a:ln>
        </p:spPr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B732D0D2-FFE7-B432-A109-B0927D2EAD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7539" y="9397310"/>
            <a:ext cx="1670498" cy="547688"/>
          </a:xfrm>
        </p:spPr>
        <p:txBody>
          <a:bodyPr/>
          <a:lstStyle/>
          <a:p>
            <a:pPr algn="ctr"/>
            <a:fld id="{37BABDB1-69D1-4A01-A280-1FAE99036FA0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34B4689-81DE-BAE3-3298-D20DD749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840200" y="9319328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38</a:t>
            </a:fld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29" name="Group 21"/>
          <p:cNvGrpSpPr/>
          <p:nvPr/>
        </p:nvGrpSpPr>
        <p:grpSpPr>
          <a:xfrm>
            <a:off x="2567864" y="6548486"/>
            <a:ext cx="1068717" cy="2566864"/>
            <a:chOff x="-91546" y="75636"/>
            <a:chExt cx="2038281" cy="4895582"/>
          </a:xfrm>
        </p:grpSpPr>
        <p:sp>
          <p:nvSpPr>
            <p:cNvPr id="33" name="TextBox 24"/>
            <p:cNvSpPr txBox="1"/>
            <p:nvPr/>
          </p:nvSpPr>
          <p:spPr>
            <a:xfrm>
              <a:off x="201386" y="75636"/>
              <a:ext cx="1745349" cy="1872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31" name="TextBox 25"/>
            <p:cNvSpPr txBox="1"/>
            <p:nvPr/>
          </p:nvSpPr>
          <p:spPr>
            <a:xfrm>
              <a:off x="-91546" y="2840045"/>
              <a:ext cx="1884324" cy="2131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88"/>
                </a:lnSpc>
              </a:pPr>
              <a:endParaRPr lang="en-US" sz="677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844953" y="2392370"/>
            <a:ext cx="762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65380" y="6407081"/>
            <a:ext cx="739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21031" y="7981399"/>
            <a:ext cx="762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9737" y="198475"/>
            <a:ext cx="671463" cy="906425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0"/>
                </a:lnTo>
                <a:lnTo>
                  <a:pt x="0" y="135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99020" y="-37559"/>
            <a:ext cx="4689960" cy="139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1000" y="1086822"/>
            <a:ext cx="17782309" cy="8815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8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S. D.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J.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V. B.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 Intelligent Computer Aided Diagnosis System for Classification of Ovarian Masses using Machine Learning Approach,”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of Multidisciplinary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Technovation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45–57, Apr. 2024,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10.54392/irjmt2434.</a:t>
            </a:r>
          </a:p>
          <a:p>
            <a:pPr algn="just">
              <a:lnSpc>
                <a:spcPts val="348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48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 T.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Öznacar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Güler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“Prediction of Early Diagnosis in Ovarian Cancer Patients Using Machine Learning Approaches with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Boruta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Advanced Feature Selection,”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4, p. 594, Apr. 2025,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10.3390/life15040594.</a:t>
            </a:r>
          </a:p>
          <a:p>
            <a:pPr algn="just">
              <a:lnSpc>
                <a:spcPts val="348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48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B.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Wickramasinghe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Regisford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Comparative Study to Predict Ovarian Cancer,”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South Carolina Academy of Science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22, no. 2, Sept. 2024, [Online]. Available: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https://scholarcommons.sc.edu/jscas/vol22/iss2/8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48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 H.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Dhingra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R. Shetty, “Comparative Study of Machine Learning and Deep Learning Models for Early Prediction of Ovarian Cancer,”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pp. 87336–87349, 2025,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10.1109/ACCESS.2025.3567081.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 A.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Sorayaie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Azar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“Application of machine learning techniques for predicting survival in ovarian cancer,”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BMC Med Inform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22, no. 1, p. 345, Dec. 2022,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10.1186/s12911-022-02087-y.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 S. D.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J.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V. B.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 Intelligent Computer Aided Diagnosis System for Classification of Ovarian Masses using Machine Learning Approach,”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of Multidisciplinary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Technovation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45–57, Apr. 2024,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10.54392/irjmt2434.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311AE-0F6A-10ED-DAC0-C73891B669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67237" y="9646290"/>
            <a:ext cx="1596509" cy="547688"/>
          </a:xfrm>
        </p:spPr>
        <p:txBody>
          <a:bodyPr/>
          <a:lstStyle/>
          <a:p>
            <a:pPr algn="ctr"/>
            <a:fld id="{4156E8AE-49BE-498F-8FD7-5986CD4C9066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695DA-3BB7-0671-020F-528F2060F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01896" y="9646290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39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371600" y="9343762"/>
            <a:ext cx="1367909" cy="547688"/>
          </a:xfrm>
        </p:spPr>
        <p:txBody>
          <a:bodyPr/>
          <a:lstStyle/>
          <a:p>
            <a:fld id="{0BE9735F-D965-445C-8F0D-667E50975EC1}" type="datetime1">
              <a:rPr lang="en-US" sz="1600" smtClean="0">
                <a:solidFill>
                  <a:schemeClr val="tx1"/>
                </a:solidFill>
              </a:rPr>
              <a:pPr/>
              <a:t>12/17/2025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6306800" y="9259105"/>
            <a:ext cx="1025009" cy="547688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40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199" y="1778697"/>
            <a:ext cx="16704991" cy="7283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48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 S. M.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Ayyoubzadeh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Ahmadi, A. B.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Yazdipour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Ghorbani-Bidkorpeh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Ahmadi, “Prediction of ovarian cancer using artificial intelligence tools,”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Science Reports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7, p. e2203, 2024,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10.1002/hsr2.2203.</a:t>
            </a:r>
          </a:p>
          <a:p>
            <a:pPr algn="just">
              <a:lnSpc>
                <a:spcPts val="3480"/>
              </a:lnSpc>
            </a:pP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48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[8]	Q.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“Data for: USING MACHINE LEARNING TO PREDICT OVARIAN CANCER.”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Mendeley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2020.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10.17632/TH7FZTBRV9.11.</a:t>
            </a:r>
          </a:p>
          <a:p>
            <a:pPr algn="just">
              <a:lnSpc>
                <a:spcPts val="3480"/>
              </a:lnSpc>
            </a:pPr>
            <a:endParaRPr lang="en-US" sz="2800" dirty="0"/>
          </a:p>
          <a:p>
            <a:pPr algn="just">
              <a:lnSpc>
                <a:spcPts val="348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[9]J.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Ababneh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“A Hybrid Approach Based on Grey Wolf and Whale Optimization Algorithms for Solving Cloud Task Scheduling Problem,” Math.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Eng., vol. 2021, pp. 1–14, Sept. 2021,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10.1155/2021/3517145.</a:t>
            </a:r>
          </a:p>
          <a:p>
            <a:pPr algn="just">
              <a:lnSpc>
                <a:spcPts val="3480"/>
              </a:lnSpc>
            </a:pP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just"/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[10]M.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Sharawi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H. M.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Zawbaa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E.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Emary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H. M.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Zawbaa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and E.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Emary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“Feature selection approach based on whale </a:t>
            </a: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op-</a:t>
            </a:r>
            <a:r>
              <a:rPr lang="en-US" sz="2800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timization</a:t>
            </a: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algorithm,” in Proceedings of the Ninth International Conference on Advanced Computational </a:t>
            </a: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Intelligence(ICACI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), Doha, Qatar, February 2017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/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48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[11] S. H.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Godasiaei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“A Study on Machine Learning Models’ Capability as an Alternative for CFD in Modeling Heat Transfer,” Aug. 06, 2024, In Review.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doi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10.21203/rs.3.rs- 4690809/v1. 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5930900" y="263242"/>
            <a:ext cx="4876800" cy="1275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lang="en-US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Freeform 2"/>
          <p:cNvSpPr/>
          <p:nvPr/>
        </p:nvSpPr>
        <p:spPr>
          <a:xfrm>
            <a:off x="16549737" y="423046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1"/>
                </a:lnTo>
                <a:lnTo>
                  <a:pt x="0" y="135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110995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66800" y="9027573"/>
            <a:ext cx="1600200" cy="547688"/>
          </a:xfrm>
        </p:spPr>
        <p:txBody>
          <a:bodyPr/>
          <a:lstStyle/>
          <a:p>
            <a:pPr algn="ctr"/>
            <a:fld id="{F93B53D6-FAF1-46B2-AC75-D16F6D342A29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6764000" y="9027573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41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2171700"/>
            <a:ext cx="153924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[12] T. </a:t>
            </a:r>
            <a:r>
              <a:rPr lang="en-US" sz="2800" dirty="0" err="1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Öznacar</a:t>
            </a:r>
            <a:r>
              <a:rPr lang="en-US" sz="2800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 and T. </a:t>
            </a:r>
            <a:r>
              <a:rPr lang="en-US" sz="2800" dirty="0" err="1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Güler</a:t>
            </a:r>
            <a:r>
              <a:rPr lang="en-US" sz="2800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, “Prediction of Early Diagnosis in Ovarian Cancer Patients Using Machine Learning Approaches with </a:t>
            </a:r>
            <a:r>
              <a:rPr lang="en-US" sz="2800" dirty="0" err="1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Boruta</a:t>
            </a:r>
            <a:r>
              <a:rPr lang="en-US" sz="2800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 and Advanced Feature Selection,” </a:t>
            </a:r>
            <a:r>
              <a:rPr lang="en-US" sz="2800" i="1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Life</a:t>
            </a:r>
            <a:r>
              <a:rPr lang="en-US" sz="2800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, vol. 15, no. 4, p. 594, Apr. 2025, </a:t>
            </a:r>
            <a:r>
              <a:rPr lang="en-US" sz="2800" dirty="0" err="1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doi</a:t>
            </a:r>
            <a:r>
              <a:rPr lang="en-US" sz="2800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: 10.3390/life15040594.</a:t>
            </a:r>
          </a:p>
          <a:p>
            <a:endParaRPr lang="en-US" sz="2800" dirty="0">
              <a:latin typeface="Times New Roman" panose="02020603050405020304" pitchFamily="18" charset="0"/>
              <a:ea typeface="DengXian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[13]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Ayyoubzadeh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Ahmadi, A. B.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Yazdipour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Ghorbani‐Bidkorpeh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Ahmadi, “Prediction of ovarian cancer using artificial intelligence tools,”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Sci. Rep.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7, p. e2203, July 2024,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10.1002/hsr2.2203.</a:t>
            </a:r>
          </a:p>
          <a:p>
            <a:endParaRPr lang="en-US" sz="2800" dirty="0">
              <a:latin typeface="Times New Roman" panose="02020603050405020304" pitchFamily="18" charset="0"/>
              <a:ea typeface="DengXian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[14]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M.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“Early-Stage Detection of Ovarian Cancer Based on Clinical Data Using Machine Learning Approaches,”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Pers. Med.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8, p. 1211, July 2022,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10.3390/jpm12081211.</a:t>
            </a:r>
            <a:endParaRPr lang="en-US" sz="2800" dirty="0">
              <a:latin typeface="Times New Roman" panose="02020603050405020304" pitchFamily="18" charset="0"/>
              <a:ea typeface="DengXian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8200" y="647700"/>
            <a:ext cx="5951795" cy="1275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5905200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4327" y="3129720"/>
            <a:ext cx="15519346" cy="621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5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•Thanks to our supervisor, Dr. Uzzal Biswas for his continuous guidance</a:t>
            </a:r>
          </a:p>
          <a:p>
            <a:pPr algn="l">
              <a:lnSpc>
                <a:spcPts val="9690"/>
              </a:lnSpc>
            </a:pPr>
            <a:r>
              <a:rPr lang="en-US" sz="5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•Also thanks to our </a:t>
            </a:r>
            <a:r>
              <a:rPr lang="en-US" sz="51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board </a:t>
            </a:r>
            <a:r>
              <a:rPr lang="en-US" sz="51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member, Dr. Abdullah-Al Nahid for his support and advice.</a:t>
            </a:r>
          </a:p>
          <a:p>
            <a:pPr algn="l">
              <a:lnSpc>
                <a:spcPts val="9690"/>
              </a:lnSpc>
            </a:pPr>
            <a:endParaRPr lang="en-US" sz="51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16050" y="847725"/>
            <a:ext cx="8055901" cy="139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Acknowledgement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16549737" y="682841"/>
            <a:ext cx="993454" cy="1355651"/>
          </a:xfrm>
          <a:custGeom>
            <a:avLst/>
            <a:gdLst/>
            <a:ahLst/>
            <a:cxnLst/>
            <a:rect l="l" t="t" r="r" b="b"/>
            <a:pathLst>
              <a:path w="993454" h="1355651">
                <a:moveTo>
                  <a:pt x="0" y="0"/>
                </a:moveTo>
                <a:lnTo>
                  <a:pt x="993454" y="0"/>
                </a:lnTo>
                <a:lnTo>
                  <a:pt x="993454" y="1355650"/>
                </a:lnTo>
                <a:lnTo>
                  <a:pt x="0" y="1355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DF52C-B8F8-FF17-4150-0A6F4F8FAD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6800" y="9160172"/>
            <a:ext cx="1600200" cy="547688"/>
          </a:xfrm>
        </p:spPr>
        <p:txBody>
          <a:bodyPr/>
          <a:lstStyle/>
          <a:p>
            <a:pPr algn="ctr"/>
            <a:fld id="{C26674D5-F3FC-4662-BA71-611A64440A05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7B8AD-8EA1-60D7-E393-27A2AD52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549737" y="9160172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42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5455" y="4334850"/>
            <a:ext cx="7157089" cy="1565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9"/>
              </a:lnSpc>
              <a:spcBef>
                <a:spcPct val="0"/>
              </a:spcBef>
            </a:pPr>
            <a:r>
              <a:rPr lang="en-US" sz="8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AFFD7F-DF65-5A53-B3D2-2ED0472F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0" y="9125231"/>
            <a:ext cx="1524000" cy="547688"/>
          </a:xfrm>
        </p:spPr>
        <p:txBody>
          <a:bodyPr/>
          <a:lstStyle/>
          <a:p>
            <a:pPr algn="ctr"/>
            <a:fld id="{EA182274-6771-4FA8-ACCF-2E8DB63F3F74}" type="datetime1">
              <a:rPr lang="en-US" sz="2000" smtClean="0">
                <a:solidFill>
                  <a:schemeClr val="tx1"/>
                </a:solidFill>
              </a:rPr>
              <a:pPr algn="ctr"/>
              <a:t>12/17/2025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5FC62-DAF4-C1AA-8742-35432581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87800" y="9125231"/>
            <a:ext cx="1025009" cy="547688"/>
          </a:xfrm>
        </p:spPr>
        <p:txBody>
          <a:bodyPr/>
          <a:lstStyle/>
          <a:p>
            <a:pPr algn="ctr"/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 algn="ctr"/>
              <a:t>43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1381</TotalTime>
  <Words>1955</Words>
  <Application>Microsoft Office PowerPoint</Application>
  <PresentationFormat>Custom</PresentationFormat>
  <Paragraphs>552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Arial</vt:lpstr>
      <vt:lpstr>DengXian</vt:lpstr>
      <vt:lpstr>Trebuchet MS</vt:lpstr>
      <vt:lpstr>Times New Roman Medium</vt:lpstr>
      <vt:lpstr>Aptos</vt:lpstr>
      <vt:lpstr>Wingdings 3</vt:lpstr>
      <vt:lpstr>Times New Roman</vt:lpstr>
      <vt:lpstr>Wingdings</vt:lpstr>
      <vt:lpstr>Calibri</vt:lpstr>
      <vt:lpstr>Cambria Math</vt:lpstr>
      <vt:lpstr>Times New Roman Bold</vt:lpstr>
      <vt:lpstr>Facet</vt:lpstr>
      <vt:lpstr>Ovarian Cancer Prediction Using Whale Optimization–based XGBoost Algrithom</vt:lpstr>
      <vt:lpstr>PowerPoint Presentation</vt:lpstr>
      <vt:lpstr>Ovarian Cancer (OC)</vt:lpstr>
      <vt:lpstr>PowerPoint Presentation</vt:lpstr>
      <vt:lpstr>Motivation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Presentation</dc:title>
  <dc:creator>RAHAT AHMED</dc:creator>
  <cp:lastModifiedBy>RAHAT AHMED</cp:lastModifiedBy>
  <cp:revision>85</cp:revision>
  <dcterms:created xsi:type="dcterms:W3CDTF">2006-08-16T00:00:00Z</dcterms:created>
  <dcterms:modified xsi:type="dcterms:W3CDTF">2025-12-17T02:45:10Z</dcterms:modified>
  <dc:identifier>DAGcvzkC7xo</dc:identifier>
</cp:coreProperties>
</file>